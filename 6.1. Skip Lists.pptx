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0"/>
  </p:notesMasterIdLst>
  <p:handoutMasterIdLst>
    <p:handoutMasterId r:id="rId21"/>
  </p:handoutMasterIdLst>
  <p:sldIdLst>
    <p:sldId id="256" r:id="rId2"/>
    <p:sldId id="365" r:id="rId3"/>
    <p:sldId id="366" r:id="rId4"/>
    <p:sldId id="367" r:id="rId5"/>
    <p:sldId id="368" r:id="rId6"/>
    <p:sldId id="369" r:id="rId7"/>
    <p:sldId id="370" r:id="rId8"/>
    <p:sldId id="371" r:id="rId9"/>
    <p:sldId id="372" r:id="rId10"/>
    <p:sldId id="373" r:id="rId11"/>
    <p:sldId id="374" r:id="rId12"/>
    <p:sldId id="376" r:id="rId13"/>
    <p:sldId id="375" r:id="rId14"/>
    <p:sldId id="380" r:id="rId15"/>
    <p:sldId id="377" r:id="rId16"/>
    <p:sldId id="378" r:id="rId17"/>
    <p:sldId id="379" r:id="rId18"/>
    <p:sldId id="381" r:id="rId19"/>
  </p:sldIdLst>
  <p:sldSz cx="9144000" cy="6858000" type="screen4x3"/>
  <p:notesSz cx="9874250" cy="6797675"/>
  <p:custDataLst>
    <p:tags r:id="rId2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n, Hongyang" initials="SH" lastIdx="1" clrIdx="0">
    <p:extLst>
      <p:ext uri="{19B8F6BF-5375-455C-9EA6-DF929625EA0E}">
        <p15:presenceInfo xmlns:p15="http://schemas.microsoft.com/office/powerpoint/2012/main" userId="Sun, Hongy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  <a:srgbClr val="05D0EB"/>
    <a:srgbClr val="FF0000"/>
    <a:srgbClr val="FF6699"/>
    <a:srgbClr val="FF5050"/>
    <a:srgbClr val="FF0066"/>
    <a:srgbClr val="697687"/>
    <a:srgbClr val="33CC33"/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63" autoAdjust="0"/>
    <p:restoredTop sz="99488" autoAdjust="0"/>
  </p:normalViewPr>
  <p:slideViewPr>
    <p:cSldViewPr>
      <p:cViewPr varScale="1">
        <p:scale>
          <a:sx n="107" d="100"/>
          <a:sy n="107" d="100"/>
        </p:scale>
        <p:origin x="1416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C08EC4F-FB64-4275-B034-48A25DDED05E}" type="datetimeFigureOut">
              <a:rPr lang="en-SG"/>
              <a:pPr>
                <a:defRPr/>
              </a:pPr>
              <a:t>7/2/2024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6E554DD-2745-4EB0-B6E1-D06B114A9A41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344BD9E-33DC-4FCB-884E-41896FC80C51}" type="datetimeFigureOut">
              <a:rPr lang="en-SG"/>
              <a:pPr>
                <a:defRPr/>
              </a:pPr>
              <a:t>7/2/2024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40088" y="509588"/>
            <a:ext cx="3398837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SG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87425" y="3228975"/>
            <a:ext cx="7899400" cy="30591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SG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A3A49BB-B583-4F53-8101-CA533F019F87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altLang="en-US"/>
              <a:t>Click to edit Master title style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 altLang="en-US"/>
              <a:t>Click to edit Master subtitle style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C6E3AB-D71B-4798-9492-D7D86137167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259CCD-4F58-4E47-B08A-28DC7D872B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1BE61A-3B3C-4A85-A0BC-18EC995A440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A1EE86-D442-49A3-95E6-E43A93FFB1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90096A-2C48-43B0-A5F0-CAF0BDCE87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49B148-299E-4213-97DC-203B847758F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F236F4-5C1E-434E-9A32-E9341277A2D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4F4BF2-5459-4C30-A13A-8B615C126F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1763AB-37AA-433C-93EA-5467AE2254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CA641A-349D-49BE-9E52-597548C20C7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7813"/>
            <a:ext cx="2057400" cy="58531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7813"/>
            <a:ext cx="6019800" cy="58531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29DFAF-033A-4993-BC6B-5CD2C34649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7813"/>
            <a:ext cx="8229600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3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138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aramond" pitchFamily="18" charset="0"/>
              </a:defRPr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10138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Garamond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10138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</a:defRPr>
            </a:lvl1pPr>
          </a:lstStyle>
          <a:p>
            <a:pPr>
              <a:defRPr/>
            </a:pPr>
            <a:fld id="{543C66B7-9051-46D6-91FE-10763E2D03E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1383" name="Freeform 7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384" name="Line 8"/>
          <p:cNvSpPr>
            <a:spLocks noChangeShapeType="1"/>
          </p:cNvSpPr>
          <p:nvPr/>
        </p:nvSpPr>
        <p:spPr bwMode="auto">
          <a:xfrm>
            <a:off x="457200" y="6172200"/>
            <a:ext cx="82296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59" r:id="rId3"/>
    <p:sldLayoutId id="2147483658" r:id="rId4"/>
    <p:sldLayoutId id="2147483657" r:id="rId5"/>
    <p:sldLayoutId id="2147483656" r:id="rId6"/>
    <p:sldLayoutId id="2147483655" r:id="rId7"/>
    <p:sldLayoutId id="2147483654" r:id="rId8"/>
    <p:sldLayoutId id="2147483653" r:id="rId9"/>
    <p:sldLayoutId id="2147483652" r:id="rId10"/>
    <p:sldLayoutId id="2147483651" r:id="rId11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sz="2600">
          <a:solidFill>
            <a:schemeClr val="tx1"/>
          </a:solidFill>
          <a:latin typeface="+mn-lt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2200">
          <a:solidFill>
            <a:schemeClr val="tx1"/>
          </a:solidFill>
          <a:latin typeface="+mn-lt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sz="2000">
          <a:solidFill>
            <a:schemeClr val="tx1"/>
          </a:solidFill>
          <a:latin typeface="+mn-lt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568" y="1844824"/>
            <a:ext cx="8064896" cy="1977008"/>
          </a:xfrm>
        </p:spPr>
        <p:txBody>
          <a:bodyPr/>
          <a:lstStyle/>
          <a:p>
            <a:pPr algn="ctr"/>
            <a:r>
              <a:rPr lang="en-US" sz="3600" dirty="0"/>
              <a:t>EECS 330 Data Structures and Algorithms</a:t>
            </a:r>
            <a:br>
              <a:rPr lang="en-US" sz="4400" dirty="0"/>
            </a:br>
            <a:r>
              <a:rPr lang="en-US" sz="1000" dirty="0"/>
              <a:t> 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Skip Lists</a:t>
            </a:r>
            <a:br>
              <a:rPr lang="en-US" sz="4400" dirty="0"/>
            </a:br>
            <a:br>
              <a:rPr lang="en-US" sz="4400" dirty="0"/>
            </a:br>
            <a:r>
              <a:rPr lang="en-US" sz="1000" dirty="0"/>
              <a:t> </a:t>
            </a:r>
            <a:br>
              <a:rPr lang="en-US" sz="4400" dirty="0"/>
            </a:br>
            <a:endParaRPr lang="en-US"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600" y="4149080"/>
            <a:ext cx="6480720" cy="1368152"/>
          </a:xfrm>
        </p:spPr>
        <p:txBody>
          <a:bodyPr/>
          <a:lstStyle/>
          <a:p>
            <a:r>
              <a:rPr lang="en-US" sz="2400" dirty="0"/>
              <a:t>Dr. Hongyang Sun</a:t>
            </a:r>
          </a:p>
          <a:p>
            <a:endParaRPr lang="en-US" sz="1200" dirty="0"/>
          </a:p>
          <a:p>
            <a:r>
              <a:rPr lang="en-US" sz="2400" dirty="0"/>
              <a:t>A</a:t>
            </a:r>
            <a:r>
              <a:rPr lang="en-US" altLang="zh-CN" sz="2400" dirty="0"/>
              <a:t>ssistant Professor</a:t>
            </a:r>
            <a:endParaRPr lang="en-US" sz="2400" dirty="0"/>
          </a:p>
          <a:p>
            <a:r>
              <a:rPr lang="en-US" sz="2400" dirty="0"/>
              <a:t>Department of EECS</a:t>
            </a:r>
          </a:p>
          <a:p>
            <a:r>
              <a:rPr lang="en-US" sz="2400" dirty="0"/>
              <a:t>University of Kansas</a:t>
            </a:r>
          </a:p>
        </p:txBody>
      </p:sp>
      <p:pic>
        <p:nvPicPr>
          <p:cNvPr id="4" name="Picture 2" descr="Kansas Jayhawks - Wikipedi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4509120"/>
            <a:ext cx="2016224" cy="1791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1613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Skip lists</a:t>
                </a:r>
                <a:r>
                  <a:rPr lang="en-US" sz="2200" dirty="0"/>
                  <a:t> are randomized data structures that are built upon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sorted linked lists</a:t>
                </a:r>
                <a:r>
                  <a:rPr lang="en-US" sz="2200" dirty="0">
                    <a:solidFill>
                      <a:srgbClr val="FF0000"/>
                    </a:solidFill>
                  </a:rPr>
                  <a:t>, </a:t>
                </a:r>
                <a:r>
                  <a:rPr lang="en-US" sz="2200" dirty="0"/>
                  <a:t>but allows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</a:t>
                </a:r>
                <a:r>
                  <a:rPr lang="en-US" sz="2200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done in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time.</a:t>
                </a:r>
                <a:endParaRPr lang="en-US" sz="1800" dirty="0"/>
              </a:p>
              <a:p>
                <a:pPr lvl="1"/>
                <a:r>
                  <a:rPr lang="en-US" sz="2000" b="1" u="sng" dirty="0"/>
                  <a:t>Note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i="1" dirty="0"/>
                  <a:t> is the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average running time</a:t>
                </a:r>
                <a:r>
                  <a:rPr lang="en-US" sz="2000" i="1" dirty="0"/>
                  <a:t>, but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with high probability </a:t>
                </a:r>
                <a:r>
                  <a:rPr lang="en-US" sz="2000" i="1" dirty="0"/>
                  <a:t>(i.e., almost always guaranteed). </a:t>
                </a:r>
              </a:p>
              <a:p>
                <a:pPr lvl="1"/>
                <a:endParaRPr lang="en-US" sz="1000" i="1" dirty="0"/>
              </a:p>
              <a:p>
                <a:pPr marL="0" indent="0">
                  <a:buNone/>
                </a:pPr>
                <a:r>
                  <a:rPr lang="en-US" sz="2200" i="1" dirty="0"/>
                  <a:t>For simplicity, we’ll use simplify drawing for a doubly linked list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  <a:blipFill>
                <a:blip r:embed="rId2"/>
                <a:stretch>
                  <a:fillRect l="-939" t="-1496" b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70459B03-1A46-C546-9220-3336F627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25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6275D0F5-78AD-FCD1-5413-9CE67663D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9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5AE590A0-F8EA-F76A-B7B3-168BC03D0CA4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25908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441B14BE-673C-AFB6-0276-06C115564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16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85A3A7B3-17D5-1B9A-7B2E-861E92D99427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35814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81D77EF-B706-E1D8-3603-FEAA46696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4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4B2A3907-0DEC-EE62-CB06-517CE208C511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45720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C8141BBA-B21F-5E53-527A-291B5A93B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36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</a:t>
            </a:r>
          </a:p>
        </p:txBody>
      </p:sp>
      <p:cxnSp>
        <p:nvCxnSpPr>
          <p:cNvPr id="14" name="AutoShape 12">
            <a:extLst>
              <a:ext uri="{FF2B5EF4-FFF2-40B4-BE49-F238E27FC236}">
                <a16:creationId xmlns:a16="http://schemas.microsoft.com/office/drawing/2014/main" id="{F5E19483-1F1A-CA1C-5F8C-3B69F6D7F643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55626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2D0DADED-14B1-F574-FEE7-E712D45A0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3645024"/>
            <a:ext cx="7681210" cy="855826"/>
          </a:xfrm>
          <a:prstGeom prst="rect">
            <a:avLst/>
          </a:prstGeom>
        </p:spPr>
      </p:pic>
      <p:sp>
        <p:nvSpPr>
          <p:cNvPr id="19" name="Arrow: Down 18">
            <a:extLst>
              <a:ext uri="{FF2B5EF4-FFF2-40B4-BE49-F238E27FC236}">
                <a16:creationId xmlns:a16="http://schemas.microsoft.com/office/drawing/2014/main" id="{35676B1E-89BA-C53F-69F9-C7F2DAB8214F}"/>
              </a:ext>
            </a:extLst>
          </p:cNvPr>
          <p:cNvSpPr/>
          <p:nvPr/>
        </p:nvSpPr>
        <p:spPr>
          <a:xfrm>
            <a:off x="4139952" y="4581128"/>
            <a:ext cx="288032" cy="504056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49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Search in linked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</p:spPr>
            <p:txBody>
              <a:bodyPr/>
              <a:lstStyle/>
              <a:p>
                <a:r>
                  <a:rPr lang="en-US" sz="2200" dirty="0"/>
                  <a:t>One major problem with a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sorted linked list </a:t>
                </a:r>
                <a:r>
                  <a:rPr lang="en-US" sz="2200" dirty="0"/>
                  <a:t>is the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operation, which takes </a:t>
                </a:r>
                <a14:m>
                  <m:oMath xmlns:m="http://schemas.openxmlformats.org/officeDocument/2006/math">
                    <m:r>
                      <a:rPr lang="en-US" sz="220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dirty="0"/>
                  <a:t> time in the worst case. </a:t>
                </a:r>
              </a:p>
              <a:p>
                <a:pPr lvl="1"/>
                <a:r>
                  <a:rPr lang="en-US" sz="2200" b="1" u="sng" dirty="0"/>
                  <a:t>Note</a:t>
                </a:r>
                <a:r>
                  <a:rPr lang="en-US" sz="2200" dirty="0"/>
                  <a:t>: 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INSERT</a:t>
                </a:r>
                <a:r>
                  <a:rPr lang="en-US" sz="2200" i="1" dirty="0"/>
                  <a:t> also takes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i="1" dirty="0"/>
                  <a:t> time, but it is due to searching for the right position to insert the element; Once position is found, insert itself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i="1" dirty="0"/>
                  <a:t> time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  <a:blipFill>
                <a:blip r:embed="rId2"/>
                <a:stretch>
                  <a:fillRect l="-152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4">
            <a:extLst>
              <a:ext uri="{FF2B5EF4-FFF2-40B4-BE49-F238E27FC236}">
                <a16:creationId xmlns:a16="http://schemas.microsoft.com/office/drawing/2014/main" id="{4CBE326C-D34D-9075-660D-1FB20CBC1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C40FA8B6-F28B-E4AE-D6AC-2410B2281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5" name="AutoShape 6">
            <a:extLst>
              <a:ext uri="{FF2B5EF4-FFF2-40B4-BE49-F238E27FC236}">
                <a16:creationId xmlns:a16="http://schemas.microsoft.com/office/drawing/2014/main" id="{2456703D-83A9-A024-A590-5F6DEEDF8E0D}"/>
              </a:ext>
            </a:extLst>
          </p:cNvPr>
          <p:cNvCxnSpPr>
            <a:cxnSpLocks noChangeShapeType="1"/>
            <a:stCxn id="4" idx="3"/>
            <a:endCxn id="5" idx="1"/>
          </p:cNvCxnSpPr>
          <p:nvPr/>
        </p:nvCxnSpPr>
        <p:spPr bwMode="auto">
          <a:xfrm>
            <a:off x="715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AutoShape 7">
            <a:extLst>
              <a:ext uri="{FF2B5EF4-FFF2-40B4-BE49-F238E27FC236}">
                <a16:creationId xmlns:a16="http://schemas.microsoft.com/office/drawing/2014/main" id="{CBB3E89C-7624-4D81-93CB-5B1152E7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7" name="AutoShape 8">
            <a:extLst>
              <a:ext uri="{FF2B5EF4-FFF2-40B4-BE49-F238E27FC236}">
                <a16:creationId xmlns:a16="http://schemas.microsoft.com/office/drawing/2014/main" id="{CDAA1C60-1F8E-4781-FC13-4CD279010F07}"/>
              </a:ext>
            </a:extLst>
          </p:cNvPr>
          <p:cNvCxnSpPr>
            <a:cxnSpLocks noChangeShapeType="1"/>
            <a:stCxn id="5" idx="3"/>
            <a:endCxn id="16" idx="1"/>
          </p:cNvCxnSpPr>
          <p:nvPr/>
        </p:nvCxnSpPr>
        <p:spPr bwMode="auto">
          <a:xfrm>
            <a:off x="1705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" name="AutoShape 9">
            <a:extLst>
              <a:ext uri="{FF2B5EF4-FFF2-40B4-BE49-F238E27FC236}">
                <a16:creationId xmlns:a16="http://schemas.microsoft.com/office/drawing/2014/main" id="{1276C33C-A896-5B04-56CB-E45D8C22E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7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21" name="AutoShape 10">
            <a:extLst>
              <a:ext uri="{FF2B5EF4-FFF2-40B4-BE49-F238E27FC236}">
                <a16:creationId xmlns:a16="http://schemas.microsoft.com/office/drawing/2014/main" id="{305C257E-E6AB-C4F5-61C5-B72A9B414A43}"/>
              </a:ext>
            </a:extLst>
          </p:cNvPr>
          <p:cNvCxnSpPr>
            <a:cxnSpLocks noChangeShapeType="1"/>
            <a:stCxn id="16" idx="3"/>
            <a:endCxn id="20" idx="1"/>
          </p:cNvCxnSpPr>
          <p:nvPr/>
        </p:nvCxnSpPr>
        <p:spPr bwMode="auto">
          <a:xfrm>
            <a:off x="2696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11">
            <a:extLst>
              <a:ext uri="{FF2B5EF4-FFF2-40B4-BE49-F238E27FC236}">
                <a16:creationId xmlns:a16="http://schemas.microsoft.com/office/drawing/2014/main" id="{9787BA34-E350-BC83-5674-D9F9F9563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9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23" name="AutoShape 12">
            <a:extLst>
              <a:ext uri="{FF2B5EF4-FFF2-40B4-BE49-F238E27FC236}">
                <a16:creationId xmlns:a16="http://schemas.microsoft.com/office/drawing/2014/main" id="{87E63F08-6553-0B8C-62CC-0E93C1D1F267}"/>
              </a:ext>
            </a:extLst>
          </p:cNvPr>
          <p:cNvCxnSpPr>
            <a:cxnSpLocks noChangeShapeType="1"/>
            <a:stCxn id="20" idx="3"/>
            <a:endCxn id="22" idx="1"/>
          </p:cNvCxnSpPr>
          <p:nvPr/>
        </p:nvCxnSpPr>
        <p:spPr bwMode="auto">
          <a:xfrm>
            <a:off x="36869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484CDC0B-B586-4D48-AF87-CBD711FC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8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cxnSp>
        <p:nvCxnSpPr>
          <p:cNvPr id="25" name="AutoShape 14">
            <a:extLst>
              <a:ext uri="{FF2B5EF4-FFF2-40B4-BE49-F238E27FC236}">
                <a16:creationId xmlns:a16="http://schemas.microsoft.com/office/drawing/2014/main" id="{3E6FD5F1-D682-72CE-10FB-84A38C662862}"/>
              </a:ext>
            </a:extLst>
          </p:cNvPr>
          <p:cNvCxnSpPr>
            <a:cxnSpLocks noChangeShapeType="1"/>
            <a:stCxn id="22" idx="3"/>
            <a:endCxn id="24" idx="1"/>
          </p:cNvCxnSpPr>
          <p:nvPr/>
        </p:nvCxnSpPr>
        <p:spPr bwMode="auto">
          <a:xfrm>
            <a:off x="46775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AutoShape 15">
            <a:extLst>
              <a:ext uri="{FF2B5EF4-FFF2-40B4-BE49-F238E27FC236}">
                <a16:creationId xmlns:a16="http://schemas.microsoft.com/office/drawing/2014/main" id="{12CDFB16-37F4-E905-5763-C6CB3639C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27" name="AutoShape 16">
            <a:extLst>
              <a:ext uri="{FF2B5EF4-FFF2-40B4-BE49-F238E27FC236}">
                <a16:creationId xmlns:a16="http://schemas.microsoft.com/office/drawing/2014/main" id="{B7622ABA-536A-DE88-0A77-228D23A34DF0}"/>
              </a:ext>
            </a:extLst>
          </p:cNvPr>
          <p:cNvCxnSpPr>
            <a:cxnSpLocks noChangeShapeType="1"/>
            <a:stCxn id="24" idx="3"/>
            <a:endCxn id="26" idx="1"/>
          </p:cNvCxnSpPr>
          <p:nvPr/>
        </p:nvCxnSpPr>
        <p:spPr bwMode="auto">
          <a:xfrm>
            <a:off x="5668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" name="AutoShape 17">
            <a:extLst>
              <a:ext uri="{FF2B5EF4-FFF2-40B4-BE49-F238E27FC236}">
                <a16:creationId xmlns:a16="http://schemas.microsoft.com/office/drawing/2014/main" id="{D1EE2726-D223-6C26-7645-AF7681822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9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245152CA-67E6-5307-75CB-F3F5104E5EDE}"/>
              </a:ext>
            </a:extLst>
          </p:cNvPr>
          <p:cNvCxnSpPr>
            <a:cxnSpLocks noChangeShapeType="1"/>
            <a:stCxn id="26" idx="3"/>
            <a:endCxn id="28" idx="1"/>
          </p:cNvCxnSpPr>
          <p:nvPr/>
        </p:nvCxnSpPr>
        <p:spPr bwMode="auto">
          <a:xfrm>
            <a:off x="6658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0451423F-6B95-DB87-05A4-9515193F3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0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1" name="AutoShape 20">
            <a:extLst>
              <a:ext uri="{FF2B5EF4-FFF2-40B4-BE49-F238E27FC236}">
                <a16:creationId xmlns:a16="http://schemas.microsoft.com/office/drawing/2014/main" id="{A9FE72BF-70F2-B0C8-A72D-84AD272A9BD4}"/>
              </a:ext>
            </a:extLst>
          </p:cNvPr>
          <p:cNvCxnSpPr>
            <a:cxnSpLocks noChangeShapeType="1"/>
            <a:stCxn id="28" idx="3"/>
            <a:endCxn id="30" idx="1"/>
          </p:cNvCxnSpPr>
          <p:nvPr/>
        </p:nvCxnSpPr>
        <p:spPr bwMode="auto">
          <a:xfrm>
            <a:off x="7649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21">
            <a:extLst>
              <a:ext uri="{FF2B5EF4-FFF2-40B4-BE49-F238E27FC236}">
                <a16:creationId xmlns:a16="http://schemas.microsoft.com/office/drawing/2014/main" id="{421B8ADA-7FC3-5484-E188-6D50F8ADBC7A}"/>
              </a:ext>
            </a:extLst>
          </p:cNvPr>
          <p:cNvCxnSpPr>
            <a:cxnSpLocks noChangeShapeType="1"/>
            <a:stCxn id="30" idx="3"/>
          </p:cNvCxnSpPr>
          <p:nvPr/>
        </p:nvCxnSpPr>
        <p:spPr bwMode="auto">
          <a:xfrm>
            <a:off x="8639944" y="4745477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403394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</a:t>
            </a:r>
            <a:r>
              <a:rPr lang="en-US" altLang="en-US" sz="2200" kern="0" dirty="0">
                <a:ea typeface="Arial Unicode MS" pitchFamily="34" charset="-122"/>
              </a:rPr>
              <a:t> in a sorted linked list</a:t>
            </a:r>
            <a:endParaRPr lang="en-US" altLang="en-US" sz="2200" kern="0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5C0EF215-2228-25AC-ECDE-65E79CA8981E}"/>
              </a:ext>
            </a:extLst>
          </p:cNvPr>
          <p:cNvSpPr/>
          <p:nvPr/>
        </p:nvSpPr>
        <p:spPr>
          <a:xfrm>
            <a:off x="410344" y="5085184"/>
            <a:ext cx="6995120" cy="1713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2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Speed up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3A370-27BD-6F01-E3D4-C91157F6AB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363272" cy="2448272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speed up search by maintaining </a:t>
            </a:r>
            <a:r>
              <a:rPr lang="en-US" sz="2200" dirty="0">
                <a:solidFill>
                  <a:srgbClr val="0000FF"/>
                </a:solidFill>
              </a:rPr>
              <a:t>multiple sorted lists, </a:t>
            </a:r>
            <a:r>
              <a:rPr lang="en-US" sz="2200" dirty="0"/>
              <a:t>and some elements appear in more than one list, which are connected by </a:t>
            </a:r>
            <a:r>
              <a:rPr lang="en-US" sz="2200" dirty="0">
                <a:solidFill>
                  <a:srgbClr val="0000FF"/>
                </a:solidFill>
              </a:rPr>
              <a:t>vertical links. </a:t>
            </a:r>
          </a:p>
          <a:p>
            <a:pPr lvl="1"/>
            <a:r>
              <a:rPr lang="en-US" sz="2000" i="1" dirty="0"/>
              <a:t>Think of this as express trains that do not stop at every station. </a:t>
            </a:r>
          </a:p>
        </p:txBody>
      </p: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2852936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two sorted lists </a:t>
            </a:r>
            <a:endParaRPr lang="en-US" altLang="en-US" sz="2200" kern="0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283696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293096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9850163B-2A86-7763-4464-DB747B59CE33}"/>
              </a:ext>
            </a:extLst>
          </p:cNvPr>
          <p:cNvSpPr/>
          <p:nvPr/>
        </p:nvSpPr>
        <p:spPr>
          <a:xfrm>
            <a:off x="449941" y="4426550"/>
            <a:ext cx="6138283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8F3D588-4BEC-F208-E4DA-FB6AF593EFB2}"/>
              </a:ext>
            </a:extLst>
          </p:cNvPr>
          <p:cNvSpPr/>
          <p:nvPr/>
        </p:nvSpPr>
        <p:spPr>
          <a:xfrm>
            <a:off x="6660231" y="5588495"/>
            <a:ext cx="936103" cy="1447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FAF17828-CAC4-23A3-F9BD-DEA418A437F8}"/>
              </a:ext>
            </a:extLst>
          </p:cNvPr>
          <p:cNvSpPr/>
          <p:nvPr/>
        </p:nvSpPr>
        <p:spPr>
          <a:xfrm rot="5400000">
            <a:off x="6084168" y="4985836"/>
            <a:ext cx="1141874" cy="14473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22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Given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elements in total, how many should be in the top list?</a:t>
                </a:r>
              </a:p>
              <a:p>
                <a:r>
                  <a:rPr lang="en-US" sz="2200" dirty="0"/>
                  <a:t>Suppose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elements are in the top list (equally spaced)</a:t>
                </a:r>
              </a:p>
              <a:p>
                <a:r>
                  <a:rPr lang="en-US" sz="2200" dirty="0"/>
                  <a:t>Then, the cost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is roughly: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2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1E199B-5A32-8CC4-B2D9-6FF39F1F84E7}"/>
              </a:ext>
            </a:extLst>
          </p:cNvPr>
          <p:cNvSpPr txBox="1"/>
          <p:nvPr/>
        </p:nvSpPr>
        <p:spPr>
          <a:xfrm>
            <a:off x="2148789" y="2837909"/>
            <a:ext cx="1296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top 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9039B-61A3-1710-BC76-0486FB4577FA}"/>
              </a:ext>
            </a:extLst>
          </p:cNvPr>
          <p:cNvSpPr txBox="1"/>
          <p:nvPr/>
        </p:nvSpPr>
        <p:spPr>
          <a:xfrm>
            <a:off x="6102165" y="2855682"/>
            <a:ext cx="150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bottom list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D8EFAAB-D29F-2399-6C9E-22641B4C1F94}"/>
              </a:ext>
            </a:extLst>
          </p:cNvPr>
          <p:cNvCxnSpPr>
            <a:cxnSpLocks/>
          </p:cNvCxnSpPr>
          <p:nvPr/>
        </p:nvCxnSpPr>
        <p:spPr>
          <a:xfrm flipV="1">
            <a:off x="3275856" y="2871692"/>
            <a:ext cx="846219" cy="31545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A52E29-A8F5-91C1-6CAB-5C59C1E3A3D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59061" y="2855682"/>
            <a:ext cx="943104" cy="32316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blipFill>
                <a:blip r:embed="rId4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000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This cost is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minimized</a:t>
                </a:r>
                <a:r>
                  <a:rPr lang="en-US" sz="2200" dirty="0"/>
                  <a:t> when the two parts are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approx. equal</a:t>
                </a:r>
                <a:r>
                  <a:rPr lang="en-US" sz="2200" dirty="0"/>
                  <a:t>, i.e.,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rad>
                  </m:oMath>
                </a14:m>
                <a:r>
                  <a:rPr lang="en-US" sz="2200" b="1" dirty="0"/>
                  <a:t>. </a:t>
                </a:r>
              </a:p>
              <a:p>
                <a:r>
                  <a:rPr lang="en-US" sz="2200" dirty="0"/>
                  <a:t>Thus,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becomes: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rad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2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96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</p:spPr>
            <p:txBody>
              <a:bodyPr/>
              <a:lstStyle/>
              <a:p>
                <a:r>
                  <a:rPr lang="en-US" sz="2200" dirty="0"/>
                  <a:t>In general,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is:</a:t>
                </a:r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2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2⋅</m:t>
                    </m:r>
                    <m:rad>
                      <m:radPr>
                        <m:degHide m:val="on"/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3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maintain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sorted lists with a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func>
                          <m:funcPr>
                            <m:ctrlP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g>
                      <m:e>
                        <m: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lg</m:t>
                    </m:r>
                    <m: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20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  <a:blipFill>
                <a:blip r:embed="rId2"/>
                <a:stretch>
                  <a:fillRect l="-143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0DD38B20-733B-14FF-5A58-C224C8F7233D}"/>
              </a:ext>
            </a:extLst>
          </p:cNvPr>
          <p:cNvGrpSpPr/>
          <p:nvPr/>
        </p:nvGrpSpPr>
        <p:grpSpPr>
          <a:xfrm>
            <a:off x="1259632" y="3645024"/>
            <a:ext cx="6219800" cy="2370584"/>
            <a:chOff x="152400" y="2362200"/>
            <a:chExt cx="8915400" cy="3581400"/>
          </a:xfrm>
        </p:grpSpPr>
        <p:sp>
          <p:nvSpPr>
            <p:cNvPr id="4" name="AutoShape 4">
              <a:extLst>
                <a:ext uri="{FF2B5EF4-FFF2-40B4-BE49-F238E27FC236}">
                  <a16:creationId xmlns:a16="http://schemas.microsoft.com/office/drawing/2014/main" id="{C28FF6BA-9DAD-FA66-2192-6253FF27CB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" name="AutoShape 5">
              <a:extLst>
                <a:ext uri="{FF2B5EF4-FFF2-40B4-BE49-F238E27FC236}">
                  <a16:creationId xmlns:a16="http://schemas.microsoft.com/office/drawing/2014/main" id="{A1630324-F3C5-64B4-E245-1EF7EC058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5" name="AutoShape 6">
              <a:extLst>
                <a:ext uri="{FF2B5EF4-FFF2-40B4-BE49-F238E27FC236}">
                  <a16:creationId xmlns:a16="http://schemas.microsoft.com/office/drawing/2014/main" id="{DB9DD16F-E9AE-E86E-6397-91BCBECB1B6F}"/>
                </a:ext>
              </a:extLst>
            </p:cNvPr>
            <p:cNvCxnSpPr>
              <a:cxnSpLocks noChangeShapeType="1"/>
              <a:stCxn id="4" idx="3"/>
              <a:endCxn id="5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7">
              <a:extLst>
                <a:ext uri="{FF2B5EF4-FFF2-40B4-BE49-F238E27FC236}">
                  <a16:creationId xmlns:a16="http://schemas.microsoft.com/office/drawing/2014/main" id="{3906E530-BAA0-A3DE-6A1F-43F9220A0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7" name="AutoShape 8">
              <a:extLst>
                <a:ext uri="{FF2B5EF4-FFF2-40B4-BE49-F238E27FC236}">
                  <a16:creationId xmlns:a16="http://schemas.microsoft.com/office/drawing/2014/main" id="{964CBFDA-AE6F-2529-95B2-DF16A7021E73}"/>
                </a:ext>
              </a:extLst>
            </p:cNvPr>
            <p:cNvCxnSpPr>
              <a:cxnSpLocks noChangeShapeType="1"/>
              <a:stCxn id="5" idx="3"/>
              <a:endCxn id="16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9">
              <a:extLst>
                <a:ext uri="{FF2B5EF4-FFF2-40B4-BE49-F238E27FC236}">
                  <a16:creationId xmlns:a16="http://schemas.microsoft.com/office/drawing/2014/main" id="{A6F677B7-5A21-02E0-F05C-EF02C42EB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1" name="AutoShape 10">
              <a:extLst>
                <a:ext uri="{FF2B5EF4-FFF2-40B4-BE49-F238E27FC236}">
                  <a16:creationId xmlns:a16="http://schemas.microsoft.com/office/drawing/2014/main" id="{A7F20E0C-B270-7655-E894-DC818F0FC755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B6BC73F4-CCC1-4CC1-075E-F787843E0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31" name="AutoShape 12">
              <a:extLst>
                <a:ext uri="{FF2B5EF4-FFF2-40B4-BE49-F238E27FC236}">
                  <a16:creationId xmlns:a16="http://schemas.microsoft.com/office/drawing/2014/main" id="{4944AA23-0FB7-E0D9-3009-3D8EA07D7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3">
              <a:extLst>
                <a:ext uri="{FF2B5EF4-FFF2-40B4-BE49-F238E27FC236}">
                  <a16:creationId xmlns:a16="http://schemas.microsoft.com/office/drawing/2014/main" id="{52260C36-08F6-E289-1A57-957DD47183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3" name="AutoShape 14">
              <a:extLst>
                <a:ext uri="{FF2B5EF4-FFF2-40B4-BE49-F238E27FC236}">
                  <a16:creationId xmlns:a16="http://schemas.microsoft.com/office/drawing/2014/main" id="{270967E8-6E0D-0482-4E3C-0302348E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4" name="AutoShape 15">
              <a:extLst>
                <a:ext uri="{FF2B5EF4-FFF2-40B4-BE49-F238E27FC236}">
                  <a16:creationId xmlns:a16="http://schemas.microsoft.com/office/drawing/2014/main" id="{E0A99421-8663-BD8D-182C-F7A0A7A5BD61}"/>
                </a:ext>
              </a:extLst>
            </p:cNvPr>
            <p:cNvCxnSpPr>
              <a:cxnSpLocks noChangeShapeType="1"/>
              <a:stCxn id="32" idx="3"/>
              <a:endCxn id="33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1" name="AutoShape 16">
              <a:extLst>
                <a:ext uri="{FF2B5EF4-FFF2-40B4-BE49-F238E27FC236}">
                  <a16:creationId xmlns:a16="http://schemas.microsoft.com/office/drawing/2014/main" id="{8860A565-2683-17E9-7023-A969EE1E7C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2" name="AutoShape 17">
              <a:extLst>
                <a:ext uri="{FF2B5EF4-FFF2-40B4-BE49-F238E27FC236}">
                  <a16:creationId xmlns:a16="http://schemas.microsoft.com/office/drawing/2014/main" id="{790514D1-6F43-A8B2-CAC1-4AAB09B53DDC}"/>
                </a:ext>
              </a:extLst>
            </p:cNvPr>
            <p:cNvCxnSpPr>
              <a:cxnSpLocks noChangeShapeType="1"/>
              <a:stCxn id="33" idx="3"/>
              <a:endCxn id="51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18">
              <a:extLst>
                <a:ext uri="{FF2B5EF4-FFF2-40B4-BE49-F238E27FC236}">
                  <a16:creationId xmlns:a16="http://schemas.microsoft.com/office/drawing/2014/main" id="{FAD8F871-B43C-D682-5BBF-338E4456E2A4}"/>
                </a:ext>
              </a:extLst>
            </p:cNvPr>
            <p:cNvCxnSpPr>
              <a:cxnSpLocks noChangeShapeType="1"/>
              <a:stCxn id="51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4" name="AutoShape 19">
              <a:extLst>
                <a:ext uri="{FF2B5EF4-FFF2-40B4-BE49-F238E27FC236}">
                  <a16:creationId xmlns:a16="http://schemas.microsoft.com/office/drawing/2014/main" id="{01B40B1F-CBC5-44C0-6F25-C66FD35538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5" name="AutoShape 20">
              <a:extLst>
                <a:ext uri="{FF2B5EF4-FFF2-40B4-BE49-F238E27FC236}">
                  <a16:creationId xmlns:a16="http://schemas.microsoft.com/office/drawing/2014/main" id="{8B8D4FD8-7A7D-ECB0-A7F4-398D8E8E1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6" name="AutoShape 21">
              <a:extLst>
                <a:ext uri="{FF2B5EF4-FFF2-40B4-BE49-F238E27FC236}">
                  <a16:creationId xmlns:a16="http://schemas.microsoft.com/office/drawing/2014/main" id="{284C0AB9-1E39-8474-C1B9-AAFCA18C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7" name="AutoShape 22">
              <a:extLst>
                <a:ext uri="{FF2B5EF4-FFF2-40B4-BE49-F238E27FC236}">
                  <a16:creationId xmlns:a16="http://schemas.microsoft.com/office/drawing/2014/main" id="{AE541858-59A9-2F0D-D523-3D5EF4BAB21D}"/>
                </a:ext>
              </a:extLst>
            </p:cNvPr>
            <p:cNvCxnSpPr>
              <a:cxnSpLocks noChangeShapeType="1"/>
              <a:stCxn id="56" idx="3"/>
              <a:endCxn id="69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3">
              <a:extLst>
                <a:ext uri="{FF2B5EF4-FFF2-40B4-BE49-F238E27FC236}">
                  <a16:creationId xmlns:a16="http://schemas.microsoft.com/office/drawing/2014/main" id="{82E97256-F52A-7184-42D3-1909993C9AEC}"/>
                </a:ext>
              </a:extLst>
            </p:cNvPr>
            <p:cNvCxnSpPr>
              <a:cxnSpLocks noChangeShapeType="1"/>
              <a:stCxn id="54" idx="2"/>
              <a:endCxn id="4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4">
              <a:extLst>
                <a:ext uri="{FF2B5EF4-FFF2-40B4-BE49-F238E27FC236}">
                  <a16:creationId xmlns:a16="http://schemas.microsoft.com/office/drawing/2014/main" id="{B6AB9559-38DC-0F4D-E1D2-AD3C85AB9A71}"/>
                </a:ext>
              </a:extLst>
            </p:cNvPr>
            <p:cNvCxnSpPr>
              <a:cxnSpLocks noChangeShapeType="1"/>
              <a:stCxn id="56" idx="2"/>
              <a:endCxn id="32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5">
              <a:extLst>
                <a:ext uri="{FF2B5EF4-FFF2-40B4-BE49-F238E27FC236}">
                  <a16:creationId xmlns:a16="http://schemas.microsoft.com/office/drawing/2014/main" id="{19D979FB-B0F5-EE0C-7609-10D352469978}"/>
                </a:ext>
              </a:extLst>
            </p:cNvPr>
            <p:cNvCxnSpPr>
              <a:cxnSpLocks noChangeShapeType="1"/>
              <a:stCxn id="54" idx="3"/>
              <a:endCxn id="5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6">
              <a:extLst>
                <a:ext uri="{FF2B5EF4-FFF2-40B4-BE49-F238E27FC236}">
                  <a16:creationId xmlns:a16="http://schemas.microsoft.com/office/drawing/2014/main" id="{33B675A9-1A68-3C81-5CD8-C7525541BC6C}"/>
                </a:ext>
              </a:extLst>
            </p:cNvPr>
            <p:cNvCxnSpPr>
              <a:cxnSpLocks noChangeShapeType="1"/>
              <a:stCxn id="55" idx="3"/>
              <a:endCxn id="6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7">
              <a:extLst>
                <a:ext uri="{FF2B5EF4-FFF2-40B4-BE49-F238E27FC236}">
                  <a16:creationId xmlns:a16="http://schemas.microsoft.com/office/drawing/2014/main" id="{AF4F3F49-5060-71BC-03EB-05D937D862D9}"/>
                </a:ext>
              </a:extLst>
            </p:cNvPr>
            <p:cNvCxnSpPr>
              <a:cxnSpLocks noChangeShapeType="1"/>
              <a:stCxn id="55" idx="2"/>
              <a:endCxn id="16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8">
              <a:extLst>
                <a:ext uri="{FF2B5EF4-FFF2-40B4-BE49-F238E27FC236}">
                  <a16:creationId xmlns:a16="http://schemas.microsoft.com/office/drawing/2014/main" id="{C301C38E-C141-F3FC-5C23-34362C8193C1}"/>
                </a:ext>
              </a:extLst>
            </p:cNvPr>
            <p:cNvCxnSpPr>
              <a:cxnSpLocks noChangeShapeType="1"/>
              <a:stCxn id="20" idx="3"/>
              <a:endCxn id="26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29">
              <a:extLst>
                <a:ext uri="{FF2B5EF4-FFF2-40B4-BE49-F238E27FC236}">
                  <a16:creationId xmlns:a16="http://schemas.microsoft.com/office/drawing/2014/main" id="{DDC73EE0-ED44-C1A1-37F8-88E520B87C27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AutoShape 30">
              <a:extLst>
                <a:ext uri="{FF2B5EF4-FFF2-40B4-BE49-F238E27FC236}">
                  <a16:creationId xmlns:a16="http://schemas.microsoft.com/office/drawing/2014/main" id="{50C8CB1C-4964-0F95-AF73-871F517F351E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46">
              <a:extLst>
                <a:ext uri="{FF2B5EF4-FFF2-40B4-BE49-F238E27FC236}">
                  <a16:creationId xmlns:a16="http://schemas.microsoft.com/office/drawing/2014/main" id="{94A60583-51CA-396D-772E-836253748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7" name="AutoShape 47">
              <a:extLst>
                <a:ext uri="{FF2B5EF4-FFF2-40B4-BE49-F238E27FC236}">
                  <a16:creationId xmlns:a16="http://schemas.microsoft.com/office/drawing/2014/main" id="{F568BF41-CF7C-F3D5-153E-E76C5BFF9674}"/>
                </a:ext>
              </a:extLst>
            </p:cNvPr>
            <p:cNvCxnSpPr>
              <a:cxnSpLocks noChangeShapeType="1"/>
              <a:stCxn id="66" idx="3"/>
              <a:endCxn id="56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AutoShape 48">
              <a:extLst>
                <a:ext uri="{FF2B5EF4-FFF2-40B4-BE49-F238E27FC236}">
                  <a16:creationId xmlns:a16="http://schemas.microsoft.com/office/drawing/2014/main" id="{D044EDE6-EA49-7900-EF5D-EBD1FF53BD37}"/>
                </a:ext>
              </a:extLst>
            </p:cNvPr>
            <p:cNvCxnSpPr>
              <a:cxnSpLocks noChangeShapeType="1"/>
              <a:stCxn id="66" idx="2"/>
              <a:endCxn id="26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9" name="AutoShape 49">
              <a:extLst>
                <a:ext uri="{FF2B5EF4-FFF2-40B4-BE49-F238E27FC236}">
                  <a16:creationId xmlns:a16="http://schemas.microsoft.com/office/drawing/2014/main" id="{171BC906-6682-4FFB-1545-B4A1EB178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0" name="AutoShape 50">
              <a:extLst>
                <a:ext uri="{FF2B5EF4-FFF2-40B4-BE49-F238E27FC236}">
                  <a16:creationId xmlns:a16="http://schemas.microsoft.com/office/drawing/2014/main" id="{5A7DB1E4-9DDB-9AAD-493D-35B2E3EC7DB1}"/>
                </a:ext>
              </a:extLst>
            </p:cNvPr>
            <p:cNvCxnSpPr>
              <a:cxnSpLocks noChangeShapeType="1"/>
              <a:stCxn id="69" idx="2"/>
              <a:endCxn id="51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1" name="AutoShape 51">
              <a:extLst>
                <a:ext uri="{FF2B5EF4-FFF2-40B4-BE49-F238E27FC236}">
                  <a16:creationId xmlns:a16="http://schemas.microsoft.com/office/drawing/2014/main" id="{1D60EF03-38A9-9F4D-A3CD-F7FD5EB65C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2" name="AutoShape 52">
              <a:extLst>
                <a:ext uri="{FF2B5EF4-FFF2-40B4-BE49-F238E27FC236}">
                  <a16:creationId xmlns:a16="http://schemas.microsoft.com/office/drawing/2014/main" id="{FA1A4262-1612-BD16-14E3-2CAD2D088AB3}"/>
                </a:ext>
              </a:extLst>
            </p:cNvPr>
            <p:cNvCxnSpPr>
              <a:cxnSpLocks noChangeShapeType="1"/>
              <a:stCxn id="71" idx="2"/>
              <a:endCxn id="54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AutoShape 53">
              <a:extLst>
                <a:ext uri="{FF2B5EF4-FFF2-40B4-BE49-F238E27FC236}">
                  <a16:creationId xmlns:a16="http://schemas.microsoft.com/office/drawing/2014/main" id="{656B5637-0735-C074-42D5-937B903BE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4" name="AutoShape 54">
              <a:extLst>
                <a:ext uri="{FF2B5EF4-FFF2-40B4-BE49-F238E27FC236}">
                  <a16:creationId xmlns:a16="http://schemas.microsoft.com/office/drawing/2014/main" id="{56666AE5-DE39-83B8-D968-28BD8F545F97}"/>
                </a:ext>
              </a:extLst>
            </p:cNvPr>
            <p:cNvCxnSpPr>
              <a:cxnSpLocks noChangeShapeType="1"/>
              <a:stCxn id="73" idx="2"/>
              <a:endCxn id="6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5" name="AutoShape 55">
              <a:extLst>
                <a:ext uri="{FF2B5EF4-FFF2-40B4-BE49-F238E27FC236}">
                  <a16:creationId xmlns:a16="http://schemas.microsoft.com/office/drawing/2014/main" id="{95100B3E-0C0F-3B6B-F6EC-A1BF5DE38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56">
              <a:extLst>
                <a:ext uri="{FF2B5EF4-FFF2-40B4-BE49-F238E27FC236}">
                  <a16:creationId xmlns:a16="http://schemas.microsoft.com/office/drawing/2014/main" id="{DD77DADD-9A18-2A53-739F-33CF26204764}"/>
                </a:ext>
              </a:extLst>
            </p:cNvPr>
            <p:cNvCxnSpPr>
              <a:cxnSpLocks noChangeShapeType="1"/>
              <a:stCxn id="75" idx="2"/>
              <a:endCxn id="6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7">
              <a:extLst>
                <a:ext uri="{FF2B5EF4-FFF2-40B4-BE49-F238E27FC236}">
                  <a16:creationId xmlns:a16="http://schemas.microsoft.com/office/drawing/2014/main" id="{4CD2226A-BE28-7810-ACFB-525D621D70F8}"/>
                </a:ext>
              </a:extLst>
            </p:cNvPr>
            <p:cNvCxnSpPr>
              <a:cxnSpLocks noChangeShapeType="1"/>
              <a:stCxn id="71" idx="3"/>
              <a:endCxn id="73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58">
              <a:extLst>
                <a:ext uri="{FF2B5EF4-FFF2-40B4-BE49-F238E27FC236}">
                  <a16:creationId xmlns:a16="http://schemas.microsoft.com/office/drawing/2014/main" id="{3337A946-0CA1-44D9-3064-BEC08BC251A4}"/>
                </a:ext>
              </a:extLst>
            </p:cNvPr>
            <p:cNvCxnSpPr>
              <a:cxnSpLocks noChangeShapeType="1"/>
              <a:stCxn id="73" idx="3"/>
              <a:endCxn id="75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9" name="AutoShape 59">
              <a:extLst>
                <a:ext uri="{FF2B5EF4-FFF2-40B4-BE49-F238E27FC236}">
                  <a16:creationId xmlns:a16="http://schemas.microsoft.com/office/drawing/2014/main" id="{11069BBA-3682-148C-118B-73665275CE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80" name="AutoShape 60">
              <a:extLst>
                <a:ext uri="{FF2B5EF4-FFF2-40B4-BE49-F238E27FC236}">
                  <a16:creationId xmlns:a16="http://schemas.microsoft.com/office/drawing/2014/main" id="{4EBFEDAC-6021-E249-BB73-5152A31AAD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1" name="AutoShape 61">
              <a:extLst>
                <a:ext uri="{FF2B5EF4-FFF2-40B4-BE49-F238E27FC236}">
                  <a16:creationId xmlns:a16="http://schemas.microsoft.com/office/drawing/2014/main" id="{6E35804E-3474-B620-ED0D-2CF06B6AFE41}"/>
                </a:ext>
              </a:extLst>
            </p:cNvPr>
            <p:cNvCxnSpPr>
              <a:cxnSpLocks noChangeShapeType="1"/>
              <a:stCxn id="79" idx="3"/>
              <a:endCxn id="80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2">
              <a:extLst>
                <a:ext uri="{FF2B5EF4-FFF2-40B4-BE49-F238E27FC236}">
                  <a16:creationId xmlns:a16="http://schemas.microsoft.com/office/drawing/2014/main" id="{EB647BFA-FBBA-C3DE-600C-EBE52579384E}"/>
                </a:ext>
              </a:extLst>
            </p:cNvPr>
            <p:cNvCxnSpPr>
              <a:cxnSpLocks noChangeShapeType="1"/>
              <a:stCxn id="79" idx="2"/>
              <a:endCxn id="71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3">
              <a:extLst>
                <a:ext uri="{FF2B5EF4-FFF2-40B4-BE49-F238E27FC236}">
                  <a16:creationId xmlns:a16="http://schemas.microsoft.com/office/drawing/2014/main" id="{147347F3-21BB-69D3-3254-E5667989A786}"/>
                </a:ext>
              </a:extLst>
            </p:cNvPr>
            <p:cNvCxnSpPr>
              <a:cxnSpLocks noChangeShapeType="1"/>
              <a:stCxn id="80" idx="2"/>
              <a:endCxn id="75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4">
              <a:extLst>
                <a:ext uri="{FF2B5EF4-FFF2-40B4-BE49-F238E27FC236}">
                  <a16:creationId xmlns:a16="http://schemas.microsoft.com/office/drawing/2014/main" id="{AD302F35-C133-8FF6-ABFF-CBE2887C430E}"/>
                </a:ext>
              </a:extLst>
            </p:cNvPr>
            <p:cNvCxnSpPr>
              <a:cxnSpLocks noChangeShapeType="1"/>
              <a:stCxn id="6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5">
              <a:extLst>
                <a:ext uri="{FF2B5EF4-FFF2-40B4-BE49-F238E27FC236}">
                  <a16:creationId xmlns:a16="http://schemas.microsoft.com/office/drawing/2014/main" id="{A3D719B2-B293-B7F2-7968-2DA5C590260C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AutoShape 66">
              <a:extLst>
                <a:ext uri="{FF2B5EF4-FFF2-40B4-BE49-F238E27FC236}">
                  <a16:creationId xmlns:a16="http://schemas.microsoft.com/office/drawing/2014/main" id="{88B4C4D3-64CD-9FEE-8600-3EB5EBE523B4}"/>
                </a:ext>
              </a:extLst>
            </p:cNvPr>
            <p:cNvCxnSpPr>
              <a:cxnSpLocks noChangeShapeType="1"/>
              <a:stCxn id="80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/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lg</m:t>
                      </m:r>
                      <m: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AutoShape 61">
            <a:extLst>
              <a:ext uri="{FF2B5EF4-FFF2-40B4-BE49-F238E27FC236}">
                <a16:creationId xmlns:a16="http://schemas.microsoft.com/office/drawing/2014/main" id="{5F693FFF-C7A4-5E4B-7EF5-68AD5BFCC9C9}"/>
              </a:ext>
            </a:extLst>
          </p:cNvPr>
          <p:cNvSpPr>
            <a:spLocks/>
          </p:cNvSpPr>
          <p:nvPr/>
        </p:nvSpPr>
        <p:spPr bwMode="auto">
          <a:xfrm>
            <a:off x="7746079" y="3744198"/>
            <a:ext cx="228600" cy="2202982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12BDC0-0BDC-52DF-5A68-3902D5A86E2F}"/>
              </a:ext>
            </a:extLst>
          </p:cNvPr>
          <p:cNvSpPr txBox="1"/>
          <p:nvPr/>
        </p:nvSpPr>
        <p:spPr>
          <a:xfrm>
            <a:off x="2121462" y="6242992"/>
            <a:ext cx="4903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In each list, at most 2 elements are searched.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915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9A46FF-9191-8B32-0DE7-73069DA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68760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a skip list </a:t>
            </a:r>
            <a:endParaRPr lang="en-US" altLang="en-US" sz="2200" kern="0" dirty="0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475211DE-7568-15A9-AB9E-879435641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7BDE9544-E0E0-4D9E-1793-6F03F5F79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1" name="AutoShape 6">
            <a:extLst>
              <a:ext uri="{FF2B5EF4-FFF2-40B4-BE49-F238E27FC236}">
                <a16:creationId xmlns:a16="http://schemas.microsoft.com/office/drawing/2014/main" id="{BB13EE7D-57B1-292A-92EC-C1C27E457247}"/>
              </a:ext>
            </a:extLst>
          </p:cNvPr>
          <p:cNvCxnSpPr>
            <a:cxnSpLocks noChangeShapeType="1"/>
            <a:stCxn id="9" idx="3"/>
            <a:endCxn id="10" idx="1"/>
          </p:cNvCxnSpPr>
          <p:nvPr/>
        </p:nvCxnSpPr>
        <p:spPr bwMode="auto">
          <a:xfrm>
            <a:off x="762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7">
            <a:extLst>
              <a:ext uri="{FF2B5EF4-FFF2-40B4-BE49-F238E27FC236}">
                <a16:creationId xmlns:a16="http://schemas.microsoft.com/office/drawing/2014/main" id="{25100397-4004-B4A5-29DE-EF90115B9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3" name="AutoShape 8">
            <a:extLst>
              <a:ext uri="{FF2B5EF4-FFF2-40B4-BE49-F238E27FC236}">
                <a16:creationId xmlns:a16="http://schemas.microsoft.com/office/drawing/2014/main" id="{59287201-8D6B-7ADE-C9C6-623E2C04FBE3}"/>
              </a:ext>
            </a:extLst>
          </p:cNvPr>
          <p:cNvCxnSpPr>
            <a:cxnSpLocks noChangeShapeType="1"/>
            <a:stCxn id="10" idx="3"/>
            <a:endCxn id="12" idx="1"/>
          </p:cNvCxnSpPr>
          <p:nvPr/>
        </p:nvCxnSpPr>
        <p:spPr bwMode="auto">
          <a:xfrm>
            <a:off x="1752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" name="AutoShape 9">
            <a:extLst>
              <a:ext uri="{FF2B5EF4-FFF2-40B4-BE49-F238E27FC236}">
                <a16:creationId xmlns:a16="http://schemas.microsoft.com/office/drawing/2014/main" id="{2DB873E9-6549-54E7-7769-ABEA479C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8" name="AutoShape 10">
            <a:extLst>
              <a:ext uri="{FF2B5EF4-FFF2-40B4-BE49-F238E27FC236}">
                <a16:creationId xmlns:a16="http://schemas.microsoft.com/office/drawing/2014/main" id="{C7705C68-8765-72CA-9A2C-3F14A6288D0D}"/>
              </a:ext>
            </a:extLst>
          </p:cNvPr>
          <p:cNvCxnSpPr>
            <a:cxnSpLocks noChangeShapeType="1"/>
            <a:stCxn id="12" idx="3"/>
            <a:endCxn id="14" idx="1"/>
          </p:cNvCxnSpPr>
          <p:nvPr/>
        </p:nvCxnSpPr>
        <p:spPr bwMode="auto">
          <a:xfrm>
            <a:off x="2743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AutoShape 11">
            <a:extLst>
              <a:ext uri="{FF2B5EF4-FFF2-40B4-BE49-F238E27FC236}">
                <a16:creationId xmlns:a16="http://schemas.microsoft.com/office/drawing/2014/main" id="{E7AFE931-262D-2DCC-282D-060B696C3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22" name="AutoShape 12">
            <a:extLst>
              <a:ext uri="{FF2B5EF4-FFF2-40B4-BE49-F238E27FC236}">
                <a16:creationId xmlns:a16="http://schemas.microsoft.com/office/drawing/2014/main" id="{718C2642-381C-91EF-0A8A-FEABF2EA1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23" name="AutoShape 13">
            <a:extLst>
              <a:ext uri="{FF2B5EF4-FFF2-40B4-BE49-F238E27FC236}">
                <a16:creationId xmlns:a16="http://schemas.microsoft.com/office/drawing/2014/main" id="{F577FEA9-E24A-1C89-9C38-4089964CA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24" name="AutoShape 14">
            <a:extLst>
              <a:ext uri="{FF2B5EF4-FFF2-40B4-BE49-F238E27FC236}">
                <a16:creationId xmlns:a16="http://schemas.microsoft.com/office/drawing/2014/main" id="{BB30BF4A-AFB5-24D9-F076-2158A5AD4B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5" name="AutoShape 15">
            <a:extLst>
              <a:ext uri="{FF2B5EF4-FFF2-40B4-BE49-F238E27FC236}">
                <a16:creationId xmlns:a16="http://schemas.microsoft.com/office/drawing/2014/main" id="{3441DDFF-8D52-4470-46B3-E1EE0EB469EC}"/>
              </a:ext>
            </a:extLst>
          </p:cNvPr>
          <p:cNvCxnSpPr>
            <a:cxnSpLocks noChangeShapeType="1"/>
            <a:stCxn id="23" idx="3"/>
            <a:endCxn id="24" idx="1"/>
          </p:cNvCxnSpPr>
          <p:nvPr/>
        </p:nvCxnSpPr>
        <p:spPr bwMode="auto">
          <a:xfrm>
            <a:off x="6705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" name="AutoShape 16">
            <a:extLst>
              <a:ext uri="{FF2B5EF4-FFF2-40B4-BE49-F238E27FC236}">
                <a16:creationId xmlns:a16="http://schemas.microsoft.com/office/drawing/2014/main" id="{BE100447-BBDE-87A1-C134-0669C8A7E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28" name="AutoShape 17">
            <a:extLst>
              <a:ext uri="{FF2B5EF4-FFF2-40B4-BE49-F238E27FC236}">
                <a16:creationId xmlns:a16="http://schemas.microsoft.com/office/drawing/2014/main" id="{454FD350-6DEC-46C1-8EFF-691C14135950}"/>
              </a:ext>
            </a:extLst>
          </p:cNvPr>
          <p:cNvCxnSpPr>
            <a:cxnSpLocks noChangeShapeType="1"/>
            <a:stCxn id="24" idx="3"/>
            <a:endCxn id="27" idx="1"/>
          </p:cNvCxnSpPr>
          <p:nvPr/>
        </p:nvCxnSpPr>
        <p:spPr bwMode="auto">
          <a:xfrm>
            <a:off x="7696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D186B36C-D1FA-688B-34D3-8645B8C1351E}"/>
              </a:ext>
            </a:extLst>
          </p:cNvPr>
          <p:cNvCxnSpPr>
            <a:cxnSpLocks noChangeShapeType="1"/>
            <a:stCxn id="27" idx="3"/>
          </p:cNvCxnSpPr>
          <p:nvPr/>
        </p:nvCxnSpPr>
        <p:spPr bwMode="auto">
          <a:xfrm>
            <a:off x="8686800" y="56388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A81B5695-FD55-9A08-E864-ACA43AB06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35" name="AutoShape 20">
            <a:extLst>
              <a:ext uri="{FF2B5EF4-FFF2-40B4-BE49-F238E27FC236}">
                <a16:creationId xmlns:a16="http://schemas.microsoft.com/office/drawing/2014/main" id="{C28EF243-0102-4CFB-C02F-6B74891D02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sp>
        <p:nvSpPr>
          <p:cNvPr id="36" name="AutoShape 21">
            <a:extLst>
              <a:ext uri="{FF2B5EF4-FFF2-40B4-BE49-F238E27FC236}">
                <a16:creationId xmlns:a16="http://schemas.microsoft.com/office/drawing/2014/main" id="{3D41320C-51D1-266C-5208-45392A1C4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37" name="AutoShape 22">
            <a:extLst>
              <a:ext uri="{FF2B5EF4-FFF2-40B4-BE49-F238E27FC236}">
                <a16:creationId xmlns:a16="http://schemas.microsoft.com/office/drawing/2014/main" id="{CC773D4A-7B79-BEFD-9C53-F76282DBAA98}"/>
              </a:ext>
            </a:extLst>
          </p:cNvPr>
          <p:cNvCxnSpPr>
            <a:cxnSpLocks noChangeShapeType="1"/>
            <a:stCxn id="36" idx="3"/>
            <a:endCxn id="49" idx="1"/>
          </p:cNvCxnSpPr>
          <p:nvPr/>
        </p:nvCxnSpPr>
        <p:spPr bwMode="auto">
          <a:xfrm>
            <a:off x="67056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23">
            <a:extLst>
              <a:ext uri="{FF2B5EF4-FFF2-40B4-BE49-F238E27FC236}">
                <a16:creationId xmlns:a16="http://schemas.microsoft.com/office/drawing/2014/main" id="{4E4B0B91-BDF2-A989-BB2C-3C13ED83A38D}"/>
              </a:ext>
            </a:extLst>
          </p:cNvPr>
          <p:cNvCxnSpPr>
            <a:cxnSpLocks noChangeShapeType="1"/>
            <a:stCxn id="30" idx="2"/>
            <a:endCxn id="9" idx="0"/>
          </p:cNvCxnSpPr>
          <p:nvPr/>
        </p:nvCxnSpPr>
        <p:spPr bwMode="auto">
          <a:xfrm>
            <a:off x="4572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" name="AutoShape 24">
            <a:extLst>
              <a:ext uri="{FF2B5EF4-FFF2-40B4-BE49-F238E27FC236}">
                <a16:creationId xmlns:a16="http://schemas.microsoft.com/office/drawing/2014/main" id="{9774D244-C9A1-5CD1-ED80-6D16668F6C0C}"/>
              </a:ext>
            </a:extLst>
          </p:cNvPr>
          <p:cNvCxnSpPr>
            <a:cxnSpLocks noChangeShapeType="1"/>
            <a:stCxn id="36" idx="2"/>
            <a:endCxn id="23" idx="0"/>
          </p:cNvCxnSpPr>
          <p:nvPr/>
        </p:nvCxnSpPr>
        <p:spPr bwMode="auto">
          <a:xfrm>
            <a:off x="64008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0" name="AutoShape 25">
            <a:extLst>
              <a:ext uri="{FF2B5EF4-FFF2-40B4-BE49-F238E27FC236}">
                <a16:creationId xmlns:a16="http://schemas.microsoft.com/office/drawing/2014/main" id="{900FFE6F-1C69-061E-ABED-BAAF1FA366F2}"/>
              </a:ext>
            </a:extLst>
          </p:cNvPr>
          <p:cNvCxnSpPr>
            <a:cxnSpLocks noChangeShapeType="1"/>
            <a:stCxn id="30" idx="3"/>
            <a:endCxn id="35" idx="1"/>
          </p:cNvCxnSpPr>
          <p:nvPr/>
        </p:nvCxnSpPr>
        <p:spPr bwMode="auto">
          <a:xfrm>
            <a:off x="7620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1" name="AutoShape 26">
            <a:extLst>
              <a:ext uri="{FF2B5EF4-FFF2-40B4-BE49-F238E27FC236}">
                <a16:creationId xmlns:a16="http://schemas.microsoft.com/office/drawing/2014/main" id="{03016615-53B4-7EE3-68D1-F0B22F6D3EBE}"/>
              </a:ext>
            </a:extLst>
          </p:cNvPr>
          <p:cNvCxnSpPr>
            <a:cxnSpLocks noChangeShapeType="1"/>
            <a:stCxn id="35" idx="3"/>
            <a:endCxn id="46" idx="1"/>
          </p:cNvCxnSpPr>
          <p:nvPr/>
        </p:nvCxnSpPr>
        <p:spPr bwMode="auto">
          <a:xfrm>
            <a:off x="27432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2" name="AutoShape 27">
            <a:extLst>
              <a:ext uri="{FF2B5EF4-FFF2-40B4-BE49-F238E27FC236}">
                <a16:creationId xmlns:a16="http://schemas.microsoft.com/office/drawing/2014/main" id="{187A6439-53C8-4EDF-8D24-9D0225533624}"/>
              </a:ext>
            </a:extLst>
          </p:cNvPr>
          <p:cNvCxnSpPr>
            <a:cxnSpLocks noChangeShapeType="1"/>
            <a:stCxn id="35" idx="2"/>
            <a:endCxn id="12" idx="0"/>
          </p:cNvCxnSpPr>
          <p:nvPr/>
        </p:nvCxnSpPr>
        <p:spPr bwMode="auto">
          <a:xfrm>
            <a:off x="24384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8">
            <a:extLst>
              <a:ext uri="{FF2B5EF4-FFF2-40B4-BE49-F238E27FC236}">
                <a16:creationId xmlns:a16="http://schemas.microsoft.com/office/drawing/2014/main" id="{8C5515C4-1631-CA5C-9BD1-CE1F9730944B}"/>
              </a:ext>
            </a:extLst>
          </p:cNvPr>
          <p:cNvCxnSpPr>
            <a:cxnSpLocks noChangeShapeType="1"/>
            <a:stCxn id="14" idx="3"/>
            <a:endCxn id="19" idx="1"/>
          </p:cNvCxnSpPr>
          <p:nvPr/>
        </p:nvCxnSpPr>
        <p:spPr bwMode="auto">
          <a:xfrm>
            <a:off x="37338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9">
            <a:extLst>
              <a:ext uri="{FF2B5EF4-FFF2-40B4-BE49-F238E27FC236}">
                <a16:creationId xmlns:a16="http://schemas.microsoft.com/office/drawing/2014/main" id="{EB81E03F-7DCC-E0AC-8728-5618D2DF6A0B}"/>
              </a:ext>
            </a:extLst>
          </p:cNvPr>
          <p:cNvCxnSpPr>
            <a:cxnSpLocks noChangeShapeType="1"/>
            <a:stCxn id="19" idx="3"/>
            <a:endCxn id="22" idx="1"/>
          </p:cNvCxnSpPr>
          <p:nvPr/>
        </p:nvCxnSpPr>
        <p:spPr bwMode="auto">
          <a:xfrm>
            <a:off x="47244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0">
            <a:extLst>
              <a:ext uri="{FF2B5EF4-FFF2-40B4-BE49-F238E27FC236}">
                <a16:creationId xmlns:a16="http://schemas.microsoft.com/office/drawing/2014/main" id="{86DA48F2-293D-2E43-9713-9E6277DDC93C}"/>
              </a:ext>
            </a:extLst>
          </p:cNvPr>
          <p:cNvCxnSpPr>
            <a:cxnSpLocks noChangeShapeType="1"/>
            <a:stCxn id="22" idx="3"/>
            <a:endCxn id="23" idx="1"/>
          </p:cNvCxnSpPr>
          <p:nvPr/>
        </p:nvCxnSpPr>
        <p:spPr bwMode="auto">
          <a:xfrm>
            <a:off x="5715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AutoShape 46">
            <a:extLst>
              <a:ext uri="{FF2B5EF4-FFF2-40B4-BE49-F238E27FC236}">
                <a16:creationId xmlns:a16="http://schemas.microsoft.com/office/drawing/2014/main" id="{A5C57865-BB13-816B-E3D2-278F4EB36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47" name="AutoShape 47">
            <a:extLst>
              <a:ext uri="{FF2B5EF4-FFF2-40B4-BE49-F238E27FC236}">
                <a16:creationId xmlns:a16="http://schemas.microsoft.com/office/drawing/2014/main" id="{6B2123E5-3BDF-675B-749B-0030B75B5B94}"/>
              </a:ext>
            </a:extLst>
          </p:cNvPr>
          <p:cNvCxnSpPr>
            <a:cxnSpLocks noChangeShapeType="1"/>
            <a:stCxn id="46" idx="3"/>
            <a:endCxn id="36" idx="1"/>
          </p:cNvCxnSpPr>
          <p:nvPr/>
        </p:nvCxnSpPr>
        <p:spPr bwMode="auto">
          <a:xfrm>
            <a:off x="47244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48">
            <a:extLst>
              <a:ext uri="{FF2B5EF4-FFF2-40B4-BE49-F238E27FC236}">
                <a16:creationId xmlns:a16="http://schemas.microsoft.com/office/drawing/2014/main" id="{1D216015-52C0-6001-C6A3-2A11A734DB99}"/>
              </a:ext>
            </a:extLst>
          </p:cNvPr>
          <p:cNvCxnSpPr>
            <a:cxnSpLocks noChangeShapeType="1"/>
            <a:stCxn id="46" idx="2"/>
            <a:endCxn id="19" idx="0"/>
          </p:cNvCxnSpPr>
          <p:nvPr/>
        </p:nvCxnSpPr>
        <p:spPr bwMode="auto">
          <a:xfrm>
            <a:off x="44196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9" name="AutoShape 49">
            <a:extLst>
              <a:ext uri="{FF2B5EF4-FFF2-40B4-BE49-F238E27FC236}">
                <a16:creationId xmlns:a16="http://schemas.microsoft.com/office/drawing/2014/main" id="{479C96FA-DEF3-D679-D424-90021ED82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50" name="AutoShape 50">
            <a:extLst>
              <a:ext uri="{FF2B5EF4-FFF2-40B4-BE49-F238E27FC236}">
                <a16:creationId xmlns:a16="http://schemas.microsoft.com/office/drawing/2014/main" id="{4047553C-1F02-41B5-39E2-327EA34081DB}"/>
              </a:ext>
            </a:extLst>
          </p:cNvPr>
          <p:cNvCxnSpPr>
            <a:cxnSpLocks noChangeShapeType="1"/>
            <a:stCxn id="49" idx="2"/>
            <a:endCxn id="27" idx="0"/>
          </p:cNvCxnSpPr>
          <p:nvPr/>
        </p:nvCxnSpPr>
        <p:spPr bwMode="auto">
          <a:xfrm>
            <a:off x="83820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8" name="AutoShape 51">
            <a:extLst>
              <a:ext uri="{FF2B5EF4-FFF2-40B4-BE49-F238E27FC236}">
                <a16:creationId xmlns:a16="http://schemas.microsoft.com/office/drawing/2014/main" id="{3184BEAE-2DA3-4E67-F305-8036514F9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cxnSp>
        <p:nvCxnSpPr>
          <p:cNvPr id="91" name="AutoShape 52">
            <a:extLst>
              <a:ext uri="{FF2B5EF4-FFF2-40B4-BE49-F238E27FC236}">
                <a16:creationId xmlns:a16="http://schemas.microsoft.com/office/drawing/2014/main" id="{DC723BF3-3D6E-C475-8E32-01613C14DDC2}"/>
              </a:ext>
            </a:extLst>
          </p:cNvPr>
          <p:cNvCxnSpPr>
            <a:cxnSpLocks noChangeShapeType="1"/>
            <a:stCxn id="88" idx="2"/>
            <a:endCxn id="30" idx="0"/>
          </p:cNvCxnSpPr>
          <p:nvPr/>
        </p:nvCxnSpPr>
        <p:spPr bwMode="auto">
          <a:xfrm>
            <a:off x="4572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" name="AutoShape 53">
            <a:extLst>
              <a:ext uri="{FF2B5EF4-FFF2-40B4-BE49-F238E27FC236}">
                <a16:creationId xmlns:a16="http://schemas.microsoft.com/office/drawing/2014/main" id="{E5FB396E-B937-FC2E-89F0-9CF6910C4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93" name="AutoShape 54">
            <a:extLst>
              <a:ext uri="{FF2B5EF4-FFF2-40B4-BE49-F238E27FC236}">
                <a16:creationId xmlns:a16="http://schemas.microsoft.com/office/drawing/2014/main" id="{7D3DDA7A-5B8A-B73C-261B-4943AC071F20}"/>
              </a:ext>
            </a:extLst>
          </p:cNvPr>
          <p:cNvCxnSpPr>
            <a:cxnSpLocks noChangeShapeType="1"/>
            <a:stCxn id="92" idx="2"/>
            <a:endCxn id="46" idx="0"/>
          </p:cNvCxnSpPr>
          <p:nvPr/>
        </p:nvCxnSpPr>
        <p:spPr bwMode="auto">
          <a:xfrm>
            <a:off x="44196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4" name="AutoShape 55">
            <a:extLst>
              <a:ext uri="{FF2B5EF4-FFF2-40B4-BE49-F238E27FC236}">
                <a16:creationId xmlns:a16="http://schemas.microsoft.com/office/drawing/2014/main" id="{C4D34D5F-526B-7A4A-27CA-6C2F46C82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95" name="AutoShape 56">
            <a:extLst>
              <a:ext uri="{FF2B5EF4-FFF2-40B4-BE49-F238E27FC236}">
                <a16:creationId xmlns:a16="http://schemas.microsoft.com/office/drawing/2014/main" id="{36C5E980-CCEE-AF2E-DEB0-059E51781CB1}"/>
              </a:ext>
            </a:extLst>
          </p:cNvPr>
          <p:cNvCxnSpPr>
            <a:cxnSpLocks noChangeShapeType="1"/>
            <a:stCxn id="94" idx="2"/>
            <a:endCxn id="49" idx="0"/>
          </p:cNvCxnSpPr>
          <p:nvPr/>
        </p:nvCxnSpPr>
        <p:spPr bwMode="auto">
          <a:xfrm>
            <a:off x="83820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6" name="AutoShape 57">
            <a:extLst>
              <a:ext uri="{FF2B5EF4-FFF2-40B4-BE49-F238E27FC236}">
                <a16:creationId xmlns:a16="http://schemas.microsoft.com/office/drawing/2014/main" id="{D30006B0-5E44-9660-04BA-F7E54EFCE601}"/>
              </a:ext>
            </a:extLst>
          </p:cNvPr>
          <p:cNvCxnSpPr>
            <a:cxnSpLocks noChangeShapeType="1"/>
            <a:stCxn id="88" idx="3"/>
            <a:endCxn id="92" idx="1"/>
          </p:cNvCxnSpPr>
          <p:nvPr/>
        </p:nvCxnSpPr>
        <p:spPr bwMode="auto">
          <a:xfrm>
            <a:off x="7620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7" name="AutoShape 58">
            <a:extLst>
              <a:ext uri="{FF2B5EF4-FFF2-40B4-BE49-F238E27FC236}">
                <a16:creationId xmlns:a16="http://schemas.microsoft.com/office/drawing/2014/main" id="{2B2814F4-01E1-B3CC-64A1-27386F97FB2D}"/>
              </a:ext>
            </a:extLst>
          </p:cNvPr>
          <p:cNvCxnSpPr>
            <a:cxnSpLocks noChangeShapeType="1"/>
            <a:stCxn id="92" idx="3"/>
            <a:endCxn id="94" idx="1"/>
          </p:cNvCxnSpPr>
          <p:nvPr/>
        </p:nvCxnSpPr>
        <p:spPr bwMode="auto">
          <a:xfrm>
            <a:off x="47244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8" name="AutoShape 59">
            <a:extLst>
              <a:ext uri="{FF2B5EF4-FFF2-40B4-BE49-F238E27FC236}">
                <a16:creationId xmlns:a16="http://schemas.microsoft.com/office/drawing/2014/main" id="{0ABFFF4B-1840-14DE-28FF-77CCB85ED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99" name="AutoShape 60">
            <a:extLst>
              <a:ext uri="{FF2B5EF4-FFF2-40B4-BE49-F238E27FC236}">
                <a16:creationId xmlns:a16="http://schemas.microsoft.com/office/drawing/2014/main" id="{D22368D2-3977-96A3-C6B8-99E4A5821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100" name="AutoShape 61">
            <a:extLst>
              <a:ext uri="{FF2B5EF4-FFF2-40B4-BE49-F238E27FC236}">
                <a16:creationId xmlns:a16="http://schemas.microsoft.com/office/drawing/2014/main" id="{6F6B4A53-7DEB-50DC-11A8-50A81F89B2FA}"/>
              </a:ext>
            </a:extLst>
          </p:cNvPr>
          <p:cNvCxnSpPr>
            <a:cxnSpLocks noChangeShapeType="1"/>
            <a:stCxn id="98" idx="3"/>
            <a:endCxn id="99" idx="1"/>
          </p:cNvCxnSpPr>
          <p:nvPr/>
        </p:nvCxnSpPr>
        <p:spPr bwMode="auto">
          <a:xfrm>
            <a:off x="762000" y="2667000"/>
            <a:ext cx="7315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1" name="AutoShape 62">
            <a:extLst>
              <a:ext uri="{FF2B5EF4-FFF2-40B4-BE49-F238E27FC236}">
                <a16:creationId xmlns:a16="http://schemas.microsoft.com/office/drawing/2014/main" id="{0D219A3A-7FFA-63D3-5EDC-96B2EE32420A}"/>
              </a:ext>
            </a:extLst>
          </p:cNvPr>
          <p:cNvCxnSpPr>
            <a:cxnSpLocks noChangeShapeType="1"/>
            <a:stCxn id="98" idx="2"/>
            <a:endCxn id="88" idx="0"/>
          </p:cNvCxnSpPr>
          <p:nvPr/>
        </p:nvCxnSpPr>
        <p:spPr bwMode="auto">
          <a:xfrm>
            <a:off x="4572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" name="AutoShape 63">
            <a:extLst>
              <a:ext uri="{FF2B5EF4-FFF2-40B4-BE49-F238E27FC236}">
                <a16:creationId xmlns:a16="http://schemas.microsoft.com/office/drawing/2014/main" id="{74F9F392-4C45-BD65-1B3D-2CF3CE20B1C4}"/>
              </a:ext>
            </a:extLst>
          </p:cNvPr>
          <p:cNvCxnSpPr>
            <a:cxnSpLocks noChangeShapeType="1"/>
            <a:stCxn id="99" idx="2"/>
            <a:endCxn id="94" idx="0"/>
          </p:cNvCxnSpPr>
          <p:nvPr/>
        </p:nvCxnSpPr>
        <p:spPr bwMode="auto">
          <a:xfrm>
            <a:off x="83820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" name="AutoShape 64">
            <a:extLst>
              <a:ext uri="{FF2B5EF4-FFF2-40B4-BE49-F238E27FC236}">
                <a16:creationId xmlns:a16="http://schemas.microsoft.com/office/drawing/2014/main" id="{BD256B3F-5E0C-3D4C-BDAE-C79784C0528D}"/>
              </a:ext>
            </a:extLst>
          </p:cNvPr>
          <p:cNvCxnSpPr>
            <a:cxnSpLocks noChangeShapeType="1"/>
            <a:stCxn id="49" idx="3"/>
          </p:cNvCxnSpPr>
          <p:nvPr/>
        </p:nvCxnSpPr>
        <p:spPr bwMode="auto">
          <a:xfrm>
            <a:off x="8686800" y="46482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65">
            <a:extLst>
              <a:ext uri="{FF2B5EF4-FFF2-40B4-BE49-F238E27FC236}">
                <a16:creationId xmlns:a16="http://schemas.microsoft.com/office/drawing/2014/main" id="{CA7A2478-1D34-7803-4DE5-81D436274FE3}"/>
              </a:ext>
            </a:extLst>
          </p:cNvPr>
          <p:cNvCxnSpPr>
            <a:cxnSpLocks noChangeShapeType="1"/>
            <a:stCxn id="94" idx="3"/>
          </p:cNvCxnSpPr>
          <p:nvPr/>
        </p:nvCxnSpPr>
        <p:spPr bwMode="auto">
          <a:xfrm>
            <a:off x="8686800" y="36576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5" name="AutoShape 66">
            <a:extLst>
              <a:ext uri="{FF2B5EF4-FFF2-40B4-BE49-F238E27FC236}">
                <a16:creationId xmlns:a16="http://schemas.microsoft.com/office/drawing/2014/main" id="{2DF7BC29-2841-1D88-7BA6-3AA46280F162}"/>
              </a:ext>
            </a:extLst>
          </p:cNvPr>
          <p:cNvCxnSpPr>
            <a:cxnSpLocks noChangeShapeType="1"/>
            <a:stCxn id="99" idx="3"/>
          </p:cNvCxnSpPr>
          <p:nvPr/>
        </p:nvCxnSpPr>
        <p:spPr bwMode="auto">
          <a:xfrm>
            <a:off x="8686800" y="26670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82A16108-2A11-70A7-5270-A1DA16B55844}"/>
              </a:ext>
            </a:extLst>
          </p:cNvPr>
          <p:cNvSpPr/>
          <p:nvPr/>
        </p:nvSpPr>
        <p:spPr>
          <a:xfrm>
            <a:off x="617912" y="3761710"/>
            <a:ext cx="3981380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7F12F6F7-BE11-3185-DD7F-041D178A17A4}"/>
              </a:ext>
            </a:extLst>
          </p:cNvPr>
          <p:cNvSpPr/>
          <p:nvPr/>
        </p:nvSpPr>
        <p:spPr>
          <a:xfrm>
            <a:off x="4637348" y="4775545"/>
            <a:ext cx="195087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7FEA57DB-9532-6C18-3EA2-2E7556DDB16B}"/>
              </a:ext>
            </a:extLst>
          </p:cNvPr>
          <p:cNvSpPr/>
          <p:nvPr/>
        </p:nvSpPr>
        <p:spPr>
          <a:xfrm rot="5400000">
            <a:off x="4180781" y="4253567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Arrow: Right 108">
            <a:extLst>
              <a:ext uri="{FF2B5EF4-FFF2-40B4-BE49-F238E27FC236}">
                <a16:creationId xmlns:a16="http://schemas.microsoft.com/office/drawing/2014/main" id="{74CD0F1E-C672-F9C0-1DC5-EC1449A0E61E}"/>
              </a:ext>
            </a:extLst>
          </p:cNvPr>
          <p:cNvSpPr/>
          <p:nvPr/>
        </p:nvSpPr>
        <p:spPr>
          <a:xfrm rot="5400000">
            <a:off x="115624" y="3187062"/>
            <a:ext cx="1004568" cy="14473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" name="Arrow: Right 109">
            <a:extLst>
              <a:ext uri="{FF2B5EF4-FFF2-40B4-BE49-F238E27FC236}">
                <a16:creationId xmlns:a16="http://schemas.microsoft.com/office/drawing/2014/main" id="{C3909A9D-3642-4A70-2AC7-99D357A91EEB}"/>
              </a:ext>
            </a:extLst>
          </p:cNvPr>
          <p:cNvSpPr/>
          <p:nvPr/>
        </p:nvSpPr>
        <p:spPr>
          <a:xfrm rot="5400000">
            <a:off x="6176143" y="5282782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Arrow: Right 110">
            <a:extLst>
              <a:ext uri="{FF2B5EF4-FFF2-40B4-BE49-F238E27FC236}">
                <a16:creationId xmlns:a16="http://schemas.microsoft.com/office/drawing/2014/main" id="{B515CB3F-806B-35F6-38DA-54C7E2937FA3}"/>
              </a:ext>
            </a:extLst>
          </p:cNvPr>
          <p:cNvSpPr/>
          <p:nvPr/>
        </p:nvSpPr>
        <p:spPr>
          <a:xfrm>
            <a:off x="6657191" y="5801315"/>
            <a:ext cx="93914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94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Dealing with insert and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BDA84-1D02-4525-5F9D-878F92E3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579296" cy="1230787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INSERT</a:t>
            </a:r>
            <a:r>
              <a:rPr lang="en-US" sz="2200" dirty="0"/>
              <a:t> and </a:t>
            </a:r>
            <a:r>
              <a:rPr lang="en-US" sz="2200" dirty="0">
                <a:solidFill>
                  <a:srgbClr val="FF0000"/>
                </a:solidFill>
              </a:rPr>
              <a:t>DELETE</a:t>
            </a:r>
            <a:r>
              <a:rPr lang="en-US" sz="2200" dirty="0"/>
              <a:t> may disturb this </a:t>
            </a:r>
            <a:r>
              <a:rPr lang="en-US" sz="2200" dirty="0">
                <a:solidFill>
                  <a:srgbClr val="0000FF"/>
                </a:solidFill>
              </a:rPr>
              <a:t>ideal</a:t>
            </a:r>
            <a:r>
              <a:rPr lang="en-US" sz="2200" dirty="0"/>
              <a:t> </a:t>
            </a:r>
            <a:r>
              <a:rPr lang="en-US" sz="2200" dirty="0">
                <a:solidFill>
                  <a:srgbClr val="0000FF"/>
                </a:solidFill>
              </a:rPr>
              <a:t>structure</a:t>
            </a:r>
            <a:r>
              <a:rPr lang="en-US" sz="2200" dirty="0"/>
              <a:t> over time.  </a:t>
            </a:r>
          </a:p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handle them by maintaining </a:t>
            </a:r>
            <a:r>
              <a:rPr lang="en-US" sz="2200" dirty="0">
                <a:solidFill>
                  <a:srgbClr val="0000FF"/>
                </a:solidFill>
              </a:rPr>
              <a:t>roughly</a:t>
            </a:r>
            <a:r>
              <a:rPr lang="en-US" sz="2200" dirty="0"/>
              <a:t> this structure.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354651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deleting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AF02B283-5A7C-0F67-FE03-7C264E02B526}"/>
              </a:ext>
            </a:extLst>
          </p:cNvPr>
          <p:cNvSpPr/>
          <p:nvPr/>
        </p:nvSpPr>
        <p:spPr>
          <a:xfrm>
            <a:off x="5220072" y="4475187"/>
            <a:ext cx="784825" cy="14978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68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 </a:t>
                </a:r>
                <a:r>
                  <a:rPr lang="en-US" sz="2200" dirty="0"/>
                  <a:t>when deleting an element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68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868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58DCAB-1178-9473-CC54-54DD911D15A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97F7C2D1-B861-0B7E-025F-D1B77DFA6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87C84AD9-C59D-8C93-4152-9B193F2CF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FD767C08-4D8B-0E23-27B8-160E0EBCD665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0" name="AutoShape 7">
              <a:extLst>
                <a:ext uri="{FF2B5EF4-FFF2-40B4-BE49-F238E27FC236}">
                  <a16:creationId xmlns:a16="http://schemas.microsoft.com/office/drawing/2014/main" id="{2E8B27AD-6E2E-517D-A7F8-F1D8A27FBE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5" name="AutoShape 8">
              <a:extLst>
                <a:ext uri="{FF2B5EF4-FFF2-40B4-BE49-F238E27FC236}">
                  <a16:creationId xmlns:a16="http://schemas.microsoft.com/office/drawing/2014/main" id="{C4DB4B05-E4ED-72A9-946E-1E90924F24AC}"/>
                </a:ext>
              </a:extLst>
            </p:cNvPr>
            <p:cNvCxnSpPr>
              <a:cxnSpLocks noChangeShapeType="1"/>
              <a:stCxn id="7" idx="3"/>
              <a:endCxn id="10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9">
              <a:extLst>
                <a:ext uri="{FF2B5EF4-FFF2-40B4-BE49-F238E27FC236}">
                  <a16:creationId xmlns:a16="http://schemas.microsoft.com/office/drawing/2014/main" id="{BF9668CA-7311-0C71-1403-855031AD2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17" name="AutoShape 10">
              <a:extLst>
                <a:ext uri="{FF2B5EF4-FFF2-40B4-BE49-F238E27FC236}">
                  <a16:creationId xmlns:a16="http://schemas.microsoft.com/office/drawing/2014/main" id="{97272503-FD6F-F7DD-986C-41202386874B}"/>
                </a:ext>
              </a:extLst>
            </p:cNvPr>
            <p:cNvCxnSpPr>
              <a:cxnSpLocks noChangeShapeType="1"/>
              <a:stCxn id="10" idx="3"/>
              <a:endCxn id="16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11">
              <a:extLst>
                <a:ext uri="{FF2B5EF4-FFF2-40B4-BE49-F238E27FC236}">
                  <a16:creationId xmlns:a16="http://schemas.microsoft.com/office/drawing/2014/main" id="{CAFB0EE2-2738-9262-FB26-CEC73F958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1" name="AutoShape 12">
              <a:extLst>
                <a:ext uri="{FF2B5EF4-FFF2-40B4-BE49-F238E27FC236}">
                  <a16:creationId xmlns:a16="http://schemas.microsoft.com/office/drawing/2014/main" id="{94359090-BD41-1DE6-3456-6CB75F77A6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6" name="AutoShape 14">
              <a:extLst>
                <a:ext uri="{FF2B5EF4-FFF2-40B4-BE49-F238E27FC236}">
                  <a16:creationId xmlns:a16="http://schemas.microsoft.com/office/drawing/2014/main" id="{D48305BC-A549-97B0-3B31-DBFBF5B8F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2" name="AutoShape 16">
              <a:extLst>
                <a:ext uri="{FF2B5EF4-FFF2-40B4-BE49-F238E27FC236}">
                  <a16:creationId xmlns:a16="http://schemas.microsoft.com/office/drawing/2014/main" id="{003CB405-F825-BEB8-B794-60F1C680FD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4" name="AutoShape 17">
              <a:extLst>
                <a:ext uri="{FF2B5EF4-FFF2-40B4-BE49-F238E27FC236}">
                  <a16:creationId xmlns:a16="http://schemas.microsoft.com/office/drawing/2014/main" id="{712171E2-6DAD-9244-C357-B1475A77C86B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6" name="AutoShape 18">
              <a:extLst>
                <a:ext uri="{FF2B5EF4-FFF2-40B4-BE49-F238E27FC236}">
                  <a16:creationId xmlns:a16="http://schemas.microsoft.com/office/drawing/2014/main" id="{FA931AA8-856E-77DC-28B9-8B3A97E057A8}"/>
                </a:ext>
              </a:extLst>
            </p:cNvPr>
            <p:cNvCxnSpPr>
              <a:cxnSpLocks noChangeShapeType="1"/>
              <a:stCxn id="32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7" name="AutoShape 19">
              <a:extLst>
                <a:ext uri="{FF2B5EF4-FFF2-40B4-BE49-F238E27FC236}">
                  <a16:creationId xmlns:a16="http://schemas.microsoft.com/office/drawing/2014/main" id="{0AD13E43-7182-786E-1D17-BBF8F686BE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9" name="AutoShape 20">
              <a:extLst>
                <a:ext uri="{FF2B5EF4-FFF2-40B4-BE49-F238E27FC236}">
                  <a16:creationId xmlns:a16="http://schemas.microsoft.com/office/drawing/2014/main" id="{70332983-F2C1-7B9C-7A5E-A98CDE216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1" name="AutoShape 23">
              <a:extLst>
                <a:ext uri="{FF2B5EF4-FFF2-40B4-BE49-F238E27FC236}">
                  <a16:creationId xmlns:a16="http://schemas.microsoft.com/office/drawing/2014/main" id="{8A70C3C8-D251-81E3-721E-A4FD18B2CE04}"/>
                </a:ext>
              </a:extLst>
            </p:cNvPr>
            <p:cNvCxnSpPr>
              <a:cxnSpLocks noChangeShapeType="1"/>
              <a:stCxn id="37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25">
              <a:extLst>
                <a:ext uri="{FF2B5EF4-FFF2-40B4-BE49-F238E27FC236}">
                  <a16:creationId xmlns:a16="http://schemas.microsoft.com/office/drawing/2014/main" id="{291209CA-11AB-580D-F2AF-1C3611FFA17E}"/>
                </a:ext>
              </a:extLst>
            </p:cNvPr>
            <p:cNvCxnSpPr>
              <a:cxnSpLocks noChangeShapeType="1"/>
              <a:stCxn id="37" idx="3"/>
              <a:endCxn id="39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26">
              <a:extLst>
                <a:ext uri="{FF2B5EF4-FFF2-40B4-BE49-F238E27FC236}">
                  <a16:creationId xmlns:a16="http://schemas.microsoft.com/office/drawing/2014/main" id="{C638DB97-656D-0C7A-5279-A7AFAFBA15F1}"/>
                </a:ext>
              </a:extLst>
            </p:cNvPr>
            <p:cNvCxnSpPr>
              <a:cxnSpLocks noChangeShapeType="1"/>
              <a:stCxn id="39" idx="3"/>
              <a:endCxn id="61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AutoShape 27">
              <a:extLst>
                <a:ext uri="{FF2B5EF4-FFF2-40B4-BE49-F238E27FC236}">
                  <a16:creationId xmlns:a16="http://schemas.microsoft.com/office/drawing/2014/main" id="{ACBD192B-A908-AC2A-9BAE-B031F6219BD9}"/>
                </a:ext>
              </a:extLst>
            </p:cNvPr>
            <p:cNvCxnSpPr>
              <a:cxnSpLocks noChangeShapeType="1"/>
              <a:stCxn id="39" idx="2"/>
              <a:endCxn id="10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8">
              <a:extLst>
                <a:ext uri="{FF2B5EF4-FFF2-40B4-BE49-F238E27FC236}">
                  <a16:creationId xmlns:a16="http://schemas.microsoft.com/office/drawing/2014/main" id="{156ECC6D-6A61-5C07-4535-F591B07D7F3B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9">
              <a:extLst>
                <a:ext uri="{FF2B5EF4-FFF2-40B4-BE49-F238E27FC236}">
                  <a16:creationId xmlns:a16="http://schemas.microsoft.com/office/drawing/2014/main" id="{FAB9B911-97BD-2256-3FFF-7D80C97D2905}"/>
                </a:ext>
              </a:extLst>
            </p:cNvPr>
            <p:cNvCxnSpPr>
              <a:cxnSpLocks noChangeShapeType="1"/>
              <a:stCxn id="20" idx="3"/>
              <a:endCxn id="2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30">
              <a:extLst>
                <a:ext uri="{FF2B5EF4-FFF2-40B4-BE49-F238E27FC236}">
                  <a16:creationId xmlns:a16="http://schemas.microsoft.com/office/drawing/2014/main" id="{7FD9785D-FF29-B669-7277-6CFDB10B295E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1" name="AutoShape 46">
              <a:extLst>
                <a:ext uri="{FF2B5EF4-FFF2-40B4-BE49-F238E27FC236}">
                  <a16:creationId xmlns:a16="http://schemas.microsoft.com/office/drawing/2014/main" id="{890E7802-E444-3FDD-011D-2CCE83A127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2" name="AutoShape 47">
              <a:extLst>
                <a:ext uri="{FF2B5EF4-FFF2-40B4-BE49-F238E27FC236}">
                  <a16:creationId xmlns:a16="http://schemas.microsoft.com/office/drawing/2014/main" id="{AE2B0236-A910-CD49-97FD-E30045BD69F2}"/>
                </a:ext>
              </a:extLst>
            </p:cNvPr>
            <p:cNvCxnSpPr>
              <a:cxnSpLocks noChangeShapeType="1"/>
              <a:stCxn id="61" idx="3"/>
              <a:endCxn id="64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48">
              <a:extLst>
                <a:ext uri="{FF2B5EF4-FFF2-40B4-BE49-F238E27FC236}">
                  <a16:creationId xmlns:a16="http://schemas.microsoft.com/office/drawing/2014/main" id="{F469D1D5-6363-1458-5724-0CE4BF31A1EA}"/>
                </a:ext>
              </a:extLst>
            </p:cNvPr>
            <p:cNvCxnSpPr>
              <a:cxnSpLocks noChangeShapeType="1"/>
              <a:stCxn id="61" idx="2"/>
              <a:endCxn id="20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4" name="AutoShape 49">
              <a:extLst>
                <a:ext uri="{FF2B5EF4-FFF2-40B4-BE49-F238E27FC236}">
                  <a16:creationId xmlns:a16="http://schemas.microsoft.com/office/drawing/2014/main" id="{2C664948-D27C-70A9-8880-8AACA1EE7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5" name="AutoShape 50">
              <a:extLst>
                <a:ext uri="{FF2B5EF4-FFF2-40B4-BE49-F238E27FC236}">
                  <a16:creationId xmlns:a16="http://schemas.microsoft.com/office/drawing/2014/main" id="{8ED4A429-79D8-64FD-CCFA-B13590BD9F86}"/>
                </a:ext>
              </a:extLst>
            </p:cNvPr>
            <p:cNvCxnSpPr>
              <a:cxnSpLocks noChangeShapeType="1"/>
              <a:stCxn id="64" idx="2"/>
              <a:endCxn id="32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51">
              <a:extLst>
                <a:ext uri="{FF2B5EF4-FFF2-40B4-BE49-F238E27FC236}">
                  <a16:creationId xmlns:a16="http://schemas.microsoft.com/office/drawing/2014/main" id="{28FF93B2-B5C2-5B89-08C8-34E0FBCB7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67" name="AutoShape 52">
              <a:extLst>
                <a:ext uri="{FF2B5EF4-FFF2-40B4-BE49-F238E27FC236}">
                  <a16:creationId xmlns:a16="http://schemas.microsoft.com/office/drawing/2014/main" id="{C9D1C572-ABE6-F8BE-A971-B7A4A2D2464D}"/>
                </a:ext>
              </a:extLst>
            </p:cNvPr>
            <p:cNvCxnSpPr>
              <a:cxnSpLocks noChangeShapeType="1"/>
              <a:stCxn id="66" idx="2"/>
              <a:endCxn id="37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53">
              <a:extLst>
                <a:ext uri="{FF2B5EF4-FFF2-40B4-BE49-F238E27FC236}">
                  <a16:creationId xmlns:a16="http://schemas.microsoft.com/office/drawing/2014/main" id="{CC16238E-2F0A-83D7-8AE3-C1AF8E803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9" name="AutoShape 54">
              <a:extLst>
                <a:ext uri="{FF2B5EF4-FFF2-40B4-BE49-F238E27FC236}">
                  <a16:creationId xmlns:a16="http://schemas.microsoft.com/office/drawing/2014/main" id="{2FC42B85-4D66-64B2-0B71-C686CF903273}"/>
                </a:ext>
              </a:extLst>
            </p:cNvPr>
            <p:cNvCxnSpPr>
              <a:cxnSpLocks noChangeShapeType="1"/>
              <a:stCxn id="68" idx="2"/>
              <a:endCxn id="61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5">
              <a:extLst>
                <a:ext uri="{FF2B5EF4-FFF2-40B4-BE49-F238E27FC236}">
                  <a16:creationId xmlns:a16="http://schemas.microsoft.com/office/drawing/2014/main" id="{1AA3D9BF-3430-AED0-8E87-9D263C666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1" name="AutoShape 56">
              <a:extLst>
                <a:ext uri="{FF2B5EF4-FFF2-40B4-BE49-F238E27FC236}">
                  <a16:creationId xmlns:a16="http://schemas.microsoft.com/office/drawing/2014/main" id="{EB2AED76-55C1-6FAE-DF53-B4F349F3080A}"/>
                </a:ext>
              </a:extLst>
            </p:cNvPr>
            <p:cNvCxnSpPr>
              <a:cxnSpLocks noChangeShapeType="1"/>
              <a:stCxn id="70" idx="2"/>
              <a:endCxn id="64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AutoShape 57">
              <a:extLst>
                <a:ext uri="{FF2B5EF4-FFF2-40B4-BE49-F238E27FC236}">
                  <a16:creationId xmlns:a16="http://schemas.microsoft.com/office/drawing/2014/main" id="{33693ED0-2D44-90B1-2C02-4B8880844288}"/>
                </a:ext>
              </a:extLst>
            </p:cNvPr>
            <p:cNvCxnSpPr>
              <a:cxnSpLocks noChangeShapeType="1"/>
              <a:stCxn id="66" idx="3"/>
              <a:endCxn id="6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AutoShape 58">
              <a:extLst>
                <a:ext uri="{FF2B5EF4-FFF2-40B4-BE49-F238E27FC236}">
                  <a16:creationId xmlns:a16="http://schemas.microsoft.com/office/drawing/2014/main" id="{D5CE9C8F-0667-0223-331F-7B185A2DB9C4}"/>
                </a:ext>
              </a:extLst>
            </p:cNvPr>
            <p:cNvCxnSpPr>
              <a:cxnSpLocks noChangeShapeType="1"/>
              <a:stCxn id="68" idx="3"/>
              <a:endCxn id="70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9">
              <a:extLst>
                <a:ext uri="{FF2B5EF4-FFF2-40B4-BE49-F238E27FC236}">
                  <a16:creationId xmlns:a16="http://schemas.microsoft.com/office/drawing/2014/main" id="{392455A0-6C15-94FB-4FDB-5E9A027E7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5" name="AutoShape 60">
              <a:extLst>
                <a:ext uri="{FF2B5EF4-FFF2-40B4-BE49-F238E27FC236}">
                  <a16:creationId xmlns:a16="http://schemas.microsoft.com/office/drawing/2014/main" id="{20C27D5B-FB83-57CA-F716-B2F68803BB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61">
              <a:extLst>
                <a:ext uri="{FF2B5EF4-FFF2-40B4-BE49-F238E27FC236}">
                  <a16:creationId xmlns:a16="http://schemas.microsoft.com/office/drawing/2014/main" id="{2C7EE14B-E7DE-6841-436E-F118EC223BBC}"/>
                </a:ext>
              </a:extLst>
            </p:cNvPr>
            <p:cNvCxnSpPr>
              <a:cxnSpLocks noChangeShapeType="1"/>
              <a:stCxn id="74" idx="3"/>
              <a:endCxn id="75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62">
              <a:extLst>
                <a:ext uri="{FF2B5EF4-FFF2-40B4-BE49-F238E27FC236}">
                  <a16:creationId xmlns:a16="http://schemas.microsoft.com/office/drawing/2014/main" id="{068649C7-48D9-2EC2-EA44-B097E54A2FD7}"/>
                </a:ext>
              </a:extLst>
            </p:cNvPr>
            <p:cNvCxnSpPr>
              <a:cxnSpLocks noChangeShapeType="1"/>
              <a:stCxn id="74" idx="2"/>
              <a:endCxn id="66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63">
              <a:extLst>
                <a:ext uri="{FF2B5EF4-FFF2-40B4-BE49-F238E27FC236}">
                  <a16:creationId xmlns:a16="http://schemas.microsoft.com/office/drawing/2014/main" id="{E470B6A4-BB72-D3B9-1F62-6B2DB464D987}"/>
                </a:ext>
              </a:extLst>
            </p:cNvPr>
            <p:cNvCxnSpPr>
              <a:cxnSpLocks noChangeShapeType="1"/>
              <a:stCxn id="75" idx="2"/>
              <a:endCxn id="70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" name="AutoShape 64">
              <a:extLst>
                <a:ext uri="{FF2B5EF4-FFF2-40B4-BE49-F238E27FC236}">
                  <a16:creationId xmlns:a16="http://schemas.microsoft.com/office/drawing/2014/main" id="{26A8AC6E-55FC-B0B6-3D82-F266EF115376}"/>
                </a:ext>
              </a:extLst>
            </p:cNvPr>
            <p:cNvCxnSpPr>
              <a:cxnSpLocks noChangeShapeType="1"/>
              <a:stCxn id="64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" name="AutoShape 65">
              <a:extLst>
                <a:ext uri="{FF2B5EF4-FFF2-40B4-BE49-F238E27FC236}">
                  <a16:creationId xmlns:a16="http://schemas.microsoft.com/office/drawing/2014/main" id="{637334CC-85B6-01C4-7732-D66FF62A9658}"/>
                </a:ext>
              </a:extLst>
            </p:cNvPr>
            <p:cNvCxnSpPr>
              <a:cxnSpLocks noChangeShapeType="1"/>
              <a:stCxn id="70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6">
              <a:extLst>
                <a:ext uri="{FF2B5EF4-FFF2-40B4-BE49-F238E27FC236}">
                  <a16:creationId xmlns:a16="http://schemas.microsoft.com/office/drawing/2014/main" id="{E778ED8B-3D5D-EC05-8359-99E7E9A09BE0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Arrow: Right 82">
            <a:extLst>
              <a:ext uri="{FF2B5EF4-FFF2-40B4-BE49-F238E27FC236}">
                <a16:creationId xmlns:a16="http://schemas.microsoft.com/office/drawing/2014/main" id="{73A3F05E-E2D5-B201-4390-059EB1FA4823}"/>
              </a:ext>
            </a:extLst>
          </p:cNvPr>
          <p:cNvSpPr/>
          <p:nvPr/>
        </p:nvSpPr>
        <p:spPr>
          <a:xfrm rot="18386188">
            <a:off x="5962183" y="5992093"/>
            <a:ext cx="902656" cy="17040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92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344487" lvl="1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366472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48326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4236958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1695253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</a:t>
                </a:r>
                <a:r>
                  <a:rPr lang="en-US" sz="2000" dirty="0">
                    <a:solidFill>
                      <a:srgbClr val="0000FF"/>
                    </a:solidFill>
                  </a:rPr>
                  <a:t>HEAD</a:t>
                </a:r>
                <a:r>
                  <a:rPr lang="en-US" sz="2000" dirty="0"/>
                  <a:t>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5FA3D9-80A1-2AC5-2EB3-C4759A8BF366}"/>
              </a:ext>
            </a:extLst>
          </p:cNvPr>
          <p:cNvSpPr txBox="1"/>
          <p:nvPr/>
        </p:nvSpPr>
        <p:spPr>
          <a:xfrm>
            <a:off x="7596336" y="3385170"/>
            <a:ext cx="1212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coin=TAIL</a:t>
            </a:r>
          </a:p>
        </p:txBody>
      </p:sp>
    </p:spTree>
    <p:extLst>
      <p:ext uri="{BB962C8B-B14F-4D97-AF65-F5344CB8AC3E}">
        <p14:creationId xmlns:p14="http://schemas.microsoft.com/office/powerpoint/2010/main" val="102997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147248" cy="1139825"/>
          </a:xfrm>
        </p:spPr>
        <p:txBody>
          <a:bodyPr/>
          <a:lstStyle/>
          <a:p>
            <a:r>
              <a:rPr lang="en-US" dirty="0"/>
              <a:t>Running time of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</p:spPr>
            <p:txBody>
              <a:bodyPr/>
              <a:lstStyle/>
              <a:p>
                <a:r>
                  <a:rPr lang="en-US" sz="2200" dirty="0"/>
                  <a:t>It can be formally proved that the running time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for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 is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on average and with high probability</a:t>
                </a:r>
                <a:r>
                  <a:rPr lang="en-US" sz="2200" dirty="0"/>
                  <a:t>. </a:t>
                </a:r>
              </a:p>
              <a:p>
                <a:endParaRPr lang="en-US" sz="2200" dirty="0"/>
              </a:p>
              <a:p>
                <a:endParaRPr lang="en-US" sz="2200" dirty="0"/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  <a:blipFill>
                <a:blip r:embed="rId2"/>
                <a:stretch>
                  <a:fillRect l="-148" t="-1838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49971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49971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181967" r="-408205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181967" r="-321164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181967" r="-18632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181967" r="-8544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181967" r="-1676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281967" r="-40820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281967" r="-321164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281967" r="-18632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281967" r="-85446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281967" r="-1676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381967" r="-40820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381967" r="-321164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381967" r="-18632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381967" r="-85446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381967" r="-1676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EA10C9-CE6F-49C5-E085-3F4EFAFEB052}"/>
              </a:ext>
            </a:extLst>
          </p:cNvPr>
          <p:cNvSpPr/>
          <p:nvPr/>
        </p:nvSpPr>
        <p:spPr>
          <a:xfrm>
            <a:off x="7740352" y="3697956"/>
            <a:ext cx="1080120" cy="1747267"/>
          </a:xfrm>
          <a:prstGeom prst="rect">
            <a:avLst/>
          </a:prstGeom>
          <a:noFill/>
          <a:ln w="412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335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"/>
  <p:tag name="MAGPC" val="200"/>
  <p:tag name="FONTSIZE" val="10"/>
</p:tagLst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27208</TotalTime>
  <Words>1297</Words>
  <Application>Microsoft Office PowerPoint</Application>
  <PresentationFormat>On-screen Show (4:3)</PresentationFormat>
  <Paragraphs>376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 Unicode MS</vt:lpstr>
      <vt:lpstr>Arial</vt:lpstr>
      <vt:lpstr>Calibri</vt:lpstr>
      <vt:lpstr>Cambria Math</vt:lpstr>
      <vt:lpstr>Garamond</vt:lpstr>
      <vt:lpstr>Wingdings</vt:lpstr>
      <vt:lpstr>Edge</vt:lpstr>
      <vt:lpstr>EECS 330 Data Structures and Algorithms    Skip Lists    </vt:lpstr>
      <vt:lpstr>Skip lists</vt:lpstr>
      <vt:lpstr>Search in linked lists</vt:lpstr>
      <vt:lpstr>Speed up search</vt:lpstr>
      <vt:lpstr>Two lists</vt:lpstr>
      <vt:lpstr>Two lists</vt:lpstr>
      <vt:lpstr>Skip lists</vt:lpstr>
      <vt:lpstr>Skip lists</vt:lpstr>
      <vt:lpstr>Dealing with insert and delete</vt:lpstr>
      <vt:lpstr>Delete in skip lists</vt:lpstr>
      <vt:lpstr>Delete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Running time of skip lists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Sun Hongyang</dc:creator>
  <cp:lastModifiedBy>Hongyang Sun</cp:lastModifiedBy>
  <cp:revision>5604</cp:revision>
  <dcterms:created xsi:type="dcterms:W3CDTF">2011-01-31T06:54:05Z</dcterms:created>
  <dcterms:modified xsi:type="dcterms:W3CDTF">2024-02-07T17:29:58Z</dcterms:modified>
</cp:coreProperties>
</file>